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10"/>
  </p:normalViewPr>
  <p:slideViewPr>
    <p:cSldViewPr snapToGrid="0" snapToObjects="1">
      <p:cViewPr>
        <p:scale>
          <a:sx n="142" d="100"/>
          <a:sy n="142" d="100"/>
        </p:scale>
        <p:origin x="12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22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27648" y="2121408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3568" y="2121408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39128" y="1408176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62088" y="1408176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39128" y="2834640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2834640"/>
            <a:ext cx="329184" cy="329184"/>
          </a:xfrm>
          <a:prstGeom prst="ellipse">
            <a:avLst/>
          </a:prstGeom>
          <a:solidFill>
            <a:srgbClr val="0B8FD4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4032" y="2084832"/>
            <a:ext cx="402336" cy="402336"/>
          </a:xfrm>
          <a:prstGeom prst="ellipse">
            <a:avLst/>
          </a:prstGeom>
          <a:solidFill>
            <a:srgbClr val="F07C26"/>
          </a:solidFill>
          <a:ln w="12700">
            <a:solidFill>
              <a:srgbClr val="F07C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286000"/>
            <a:ext cx="0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286000"/>
            <a:ext cx="822960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0"/>
            <a:ext cx="0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286000"/>
            <a:ext cx="411480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286000"/>
            <a:ext cx="0" cy="713232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286000"/>
            <a:ext cx="411480" cy="713232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594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 헥사콥터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11480" y="1325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다분야 최적 설계 프레임워크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1480" y="2148840"/>
            <a:ext cx="5943600" cy="0"/>
          </a:xfrm>
          <a:prstGeom prst="line">
            <a:avLst/>
          </a:prstGeom>
          <a:noFill/>
          <a:ln w="12700">
            <a:solidFill>
              <a:srgbClr val="0B8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ED4"/>
                </a:solidFill>
              </a:rPr>
              <a:t>FrameworkCpp  ·  C++ MDO System for eVTOL Hexacopter Design Optimization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1965960" cy="256032"/>
          </a:xfrm>
          <a:prstGeom prst="rect">
            <a:avLst/>
          </a:prstGeom>
          <a:solidFill>
            <a:srgbClr val="1A3A6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E8"/>
                </a:solidFill>
              </a:rPr>
              <a:t>Pagmo2 (CMA-ES / NSGA-II)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3657600"/>
            <a:ext cx="1965960" cy="256032"/>
          </a:xfrm>
          <a:prstGeom prst="rect">
            <a:avLst/>
          </a:prstGeom>
          <a:solidFill>
            <a:srgbClr val="1A3A6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E8"/>
                </a:solidFill>
              </a:rPr>
              <a:t>Phase 1: ACS + Structural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3657600"/>
            <a:ext cx="1965960" cy="256032"/>
          </a:xfrm>
          <a:prstGeom prst="rect">
            <a:avLst/>
          </a:prstGeom>
          <a:solidFill>
            <a:srgbClr val="1A3A6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E8"/>
                </a:solidFill>
              </a:rPr>
              <a:t>Phase 2: Powertrain + Battery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20840" y="3657600"/>
            <a:ext cx="1965960" cy="256032"/>
          </a:xfrm>
          <a:prstGeom prst="rect">
            <a:avLst/>
          </a:prstGeom>
          <a:solidFill>
            <a:srgbClr val="1A3A6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E8"/>
                </a:solidFill>
              </a:rPr>
              <a:t>16 설계 변수 | 11 하드 제약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A"/>
                </a:solidFill>
              </a:rPr>
              <a:t>항공우주 시스템의 다분야 최적 설계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프로젝트 개요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77240"/>
            <a:ext cx="411480" cy="411480"/>
          </a:xfrm>
          <a:prstGeom prst="ellipse">
            <a:avLst/>
          </a:prstGeom>
          <a:solidFill>
            <a:srgbClr val="1451A8"/>
          </a:solidFill>
          <a:ln w="12700">
            <a:solidFill>
              <a:srgbClr val="145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777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연구 대상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698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UAM (Urban Air Mobility) 헥사콥터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— 6모터 비대칭 헥사콥터 아키텍처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— eVTOL 운항 시나리오 기반 설계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48840"/>
            <a:ext cx="411480" cy="411480"/>
          </a:xfrm>
          <a:prstGeom prst="ellipse">
            <a:avLst/>
          </a:prstGeom>
          <a:solidFill>
            <a:srgbClr val="1451A8"/>
          </a:solidFill>
          <a:ln w="12700">
            <a:solidFill>
              <a:srgbClr val="145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연구 목적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4414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구조·추진·ACS·파워트레인·배터리를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동시에 고려하는 MDO 프레임워크 구현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— 단일/다목적 최적화 모두 지원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520440"/>
            <a:ext cx="411480" cy="411480"/>
          </a:xfrm>
          <a:prstGeom prst="ellipse">
            <a:avLst/>
          </a:prstGeom>
          <a:solidFill>
            <a:srgbClr val="1451A8"/>
          </a:solidFill>
          <a:ln w="12700">
            <a:solidFill>
              <a:srgbClr val="1451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핵심 기여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C++ 기반 고성능 평가 엔진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+ Pagmo2(CMA-ES / NSGA-II) 연동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+ 실시간 3D 시각화 (ImGui/Vulkan)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685800"/>
            <a:ext cx="4434840" cy="4114800"/>
          </a:xfrm>
          <a:prstGeom prst="rect">
            <a:avLst/>
          </a:prstGeom>
          <a:solidFill>
            <a:srgbClr val="F2F6FD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프레임워크 구성 요소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69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2344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8FD4"/>
                </a:solidFill>
              </a:rPr>
              <a:t>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623560" y="126187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분석 분야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(구조·ACS·추진·배터리·패키징)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069080" cy="749808"/>
          </a:xfrm>
          <a:prstGeom prst="rect">
            <a:avLst/>
          </a:prstGeom>
          <a:solidFill>
            <a:srgbClr val="EDF3FB"/>
          </a:solidFill>
          <a:ln w="6350">
            <a:solidFill>
              <a:srgbClr val="D4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148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8FD4"/>
                </a:solidFill>
              </a:rPr>
              <a:t>16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623560" y="217627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능동 설계 변수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(형상 4 + 구조 2 + 배터리 1 + 위치 9)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069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632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8FD4"/>
                </a:solidFill>
              </a:rPr>
              <a:t>11+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5623560" y="309067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하드 제약 조건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(안전계수, 배터리, ACS 등)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931920"/>
            <a:ext cx="4069080" cy="749808"/>
          </a:xfrm>
          <a:prstGeom prst="rect">
            <a:avLst/>
          </a:prstGeom>
          <a:solidFill>
            <a:srgbClr val="EDF3FB"/>
          </a:solidFill>
          <a:ln w="6350">
            <a:solidFill>
              <a:srgbClr val="D4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9776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8FD4"/>
                </a:solidFill>
              </a:rPr>
              <a:t>2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5623560" y="400507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최적화 알고리즘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78"/>
                </a:solidFill>
              </a:rPr>
              <a:t>SOO (CMA-ES) + MOO (NSGA-II)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최적화 설계 변수 (16개)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834640" cy="24414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2834640" cy="274320"/>
          </a:xfrm>
          <a:prstGeom prst="rect">
            <a:avLst/>
          </a:prstGeom>
          <a:solidFill>
            <a:srgbClr val="1451A8"/>
          </a:solidFill>
          <a:ln w="12700">
            <a:solidFill>
              <a:srgbClr val="145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94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기하 형상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1440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Lx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12471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2.65 m  ·  범위: [2.0 ~ 5.0]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Lyi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65506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2.65 m  ·  범위: [2.0 ~ 5.0]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97510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Lyo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18541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5.50 m  ·  범위: [2.5 ~ 9.0]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5054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T_max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71576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12000 N  ·  범위: [8k ~ 20k]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594360"/>
            <a:ext cx="2834640" cy="1911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594360"/>
            <a:ext cx="2834640" cy="274320"/>
          </a:xfrm>
          <a:prstGeom prst="rect">
            <a:avLst/>
          </a:prstGeom>
          <a:solidFill>
            <a:srgbClr val="1A7E5A"/>
          </a:solidFill>
          <a:ln w="12700">
            <a:solidFill>
              <a:srgbClr val="1A7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594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91440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arm_outer_radius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112471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0.08 m  ·  범위: [0.02 ~ 0.15]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55848" y="144475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arm_wall_thickness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165506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0.005 m  ·  범위: [0.001 ~ 0.02]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55848" y="197510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m_bat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218541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400 kg  ·  범위: [100 ~ 1000]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594360"/>
            <a:ext cx="28346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594360"/>
            <a:ext cx="28346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94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승객 위치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91440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pax_x / y / z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112471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0 / 0 / 0.60 m  ·  범위: ±0.5 / ±0.25 / [0.55~0.67]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28346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00400"/>
            <a:ext cx="283464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화물 위치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52044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cargo_x / y / z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373075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-1.1 / 0 / 0.70 m  ·  범위: [-1.15~-0.85] / ±0.35 / [0.45~1.05]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2670048"/>
            <a:ext cx="28346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670048"/>
            <a:ext cx="28346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배터리 위치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55848" y="29900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bat_x / y / z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55848" y="32004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A78"/>
                </a:solidFill>
              </a:rPr>
              <a:t>기본값: 0 / 0 / 1.33 m  ·  범위: ±0.85 / ±0.45 / [1.18~1.42]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BAA"/>
                </a:solidFill>
              </a:rPr>
              <a:t>★ 승객·화물 질량(m_pax=600kg, m_cargo=200kg)은 고정 임무 요구값으로 비활성 파라미터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목적함수 및 하드 제약 조건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85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목적함수 (가중합 SOO / Pareto MOO)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3840480" cy="5303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51560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881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mass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0881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전체 차량 질량 (정규화)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673352"/>
            <a:ext cx="38404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73352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099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power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7099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19476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호버 소모 전력 프록시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295144"/>
            <a:ext cx="3840480" cy="5303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295144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317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fault_thrust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3317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5694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단일 모터 고장 시 추력 마진 페널티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916936"/>
            <a:ext cx="38404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916936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535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fault_alloc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9535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91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제어 할당 저하 비율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538728"/>
            <a:ext cx="3840480" cy="5303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538728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7530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hover_nom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35753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8130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정상 호버 추력 이용률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4160520"/>
            <a:ext cx="38404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60520"/>
            <a:ext cx="54864" cy="53035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970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</a:rPr>
              <a:t>acs_margin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41970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C26"/>
                </a:solidFill>
              </a:rPr>
              <a:t>가중치 0.10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4348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ACS 방향 마진 페널티 (≥0 건강)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594360"/>
            <a:ext cx="42062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685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하드 제약 조건 (위반 시 대형 페널티)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기하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67528" y="10698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minimum_geometry_margin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67528" y="121615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최소 암 간격 확보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0600" y="1399032"/>
            <a:ext cx="3931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1435608"/>
            <a:ext cx="50292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435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기하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67528" y="1417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rotor_clearance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367528" y="1563624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로터 디스크 간 최소 간격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1746504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1783080"/>
            <a:ext cx="502920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1783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ACS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67528" y="17647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failed_hover_gamma ≥ 1.5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67528" y="1911096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단일 고장 추력 마진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2093976"/>
            <a:ext cx="3931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2130552"/>
            <a:ext cx="502920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2130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ACS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67528" y="211226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fault_allocation_ratio ≥ 0.05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67528" y="2258568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제어 할당 저하 한계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00600" y="2441448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2478024"/>
            <a:ext cx="502920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2478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ACS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367528" y="245973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all_faults_hover_feasible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67528" y="260604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전체 단일 고장 호버 가능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00600" y="2788920"/>
            <a:ext cx="3931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2825496"/>
            <a:ext cx="502920" cy="20116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2825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구조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67528" y="28072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arm_yield_failure ≥ 1.5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367528" y="295351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암 굽힘 안전계수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800600" y="3136392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0600" y="3172968"/>
            <a:ext cx="502920" cy="201168"/>
          </a:xfrm>
          <a:prstGeom prst="rect">
            <a:avLst/>
          </a:prstGeom>
          <a:solidFill>
            <a:srgbClr val="7C0C0C"/>
          </a:solidFill>
          <a:ln w="12700">
            <a:solidFill>
              <a:srgbClr val="7C0C0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3172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배터리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367528" y="3154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battery_energy_reserve ≥ 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67528" y="3300984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배터리 에너지 여유분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00600" y="3483864"/>
            <a:ext cx="3931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00600" y="3520440"/>
            <a:ext cx="502920" cy="201168"/>
          </a:xfrm>
          <a:prstGeom prst="rect">
            <a:avLst/>
          </a:prstGeom>
          <a:solidFill>
            <a:srgbClr val="7C0C0C"/>
          </a:solidFill>
          <a:ln w="12700">
            <a:solidFill>
              <a:srgbClr val="7C0C0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3520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배터리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367528" y="35021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battery_crate_limit ≤ 5/h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367528" y="3648456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최대 C-rate 제한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800600" y="3831336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3867912"/>
            <a:ext cx="502920" cy="201168"/>
          </a:xfrm>
          <a:prstGeom prst="rect">
            <a:avLst/>
          </a:prstGeom>
          <a:solidFill>
            <a:srgbClr val="3D1F8C"/>
          </a:solidFill>
          <a:ln w="12700">
            <a:solidFill>
              <a:srgbClr val="3D1F8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0600" y="38679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CG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367528" y="384962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cg_envelope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367528" y="3995928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조립 CG 중심 근접 유지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800600" y="4178808"/>
            <a:ext cx="3931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00600" y="4215384"/>
            <a:ext cx="502920" cy="201168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0600" y="42153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패키징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367528" y="41970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payload_envelope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367528" y="434340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페이로드 캐빈 박스 내 위치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800600" y="4526280"/>
            <a:ext cx="3931920" cy="274320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00600" y="4562856"/>
            <a:ext cx="502920" cy="201168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00600" y="4562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패키징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367528" y="45445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40"/>
                </a:solidFill>
              </a:rPr>
              <a:t>payload_no_overlap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367528" y="46908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페이로드 요소 간 비간섭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다분야 평가 파이프라인 (Stage 1 Evaluator)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58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658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Vehicle Scaling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06984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전체 질량·CG·추력·패키징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배터리 질량 피드백 포함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527048"/>
            <a:ext cx="201168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65836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658368"/>
            <a:ext cx="2743200" cy="320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658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50208" y="658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Analyzer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06984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암(Arm) 굽힘 응력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최소 안전계수 계산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61888" y="1527048"/>
            <a:ext cx="201168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65836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658368"/>
            <a:ext cx="2743200" cy="3200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658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658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ACS Analyzer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0216" y="106984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정상/고장 호버 트림 LP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ACS 마진·보존율·고장 허용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62432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24328"/>
            <a:ext cx="2743200" cy="320040"/>
          </a:xfrm>
          <a:prstGeom prst="rect">
            <a:avLst/>
          </a:prstGeom>
          <a:solidFill>
            <a:srgbClr val="5B1A8C"/>
          </a:solidFill>
          <a:ln w="12700">
            <a:solidFill>
              <a:srgbClr val="5B1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Powertrain Evaluator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0358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액추에이터-디스크 모델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정상·고장 전기 출력 [W]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3493008"/>
            <a:ext cx="201168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262432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624328"/>
            <a:ext cx="2743200" cy="320040"/>
          </a:xfrm>
          <a:prstGeom prst="rect">
            <a:avLst/>
          </a:prstGeom>
          <a:solidFill>
            <a:srgbClr val="8C5B00"/>
          </a:solidFill>
          <a:ln w="12700">
            <a:solidFill>
              <a:srgbClr val="8C5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50208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Battery Evaluator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55848" y="30358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에너지 예산·예비 분율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C-rate 계산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61888" y="3493008"/>
            <a:ext cx="201168" cy="0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056" y="2624328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624328"/>
            <a:ext cx="2743200" cy="320040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</a:rPr>
              <a:t>Step 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94576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Constraint + Objective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0216" y="30358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하드 제약 평가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A78"/>
                </a:solidFill>
              </a:rPr>
              <a:t>가중합 목적함수 집계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2395728"/>
            <a:ext cx="0" cy="256032"/>
          </a:xfrm>
          <a:prstGeom prst="line">
            <a:avLst/>
          </a:prstGeom>
          <a:noFill/>
          <a:ln w="19050">
            <a:solidFill>
              <a:srgbClr val="0B8F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" y="4617720"/>
            <a:ext cx="6949440" cy="384048"/>
          </a:xfrm>
          <a:prstGeom prst="rect">
            <a:avLst/>
          </a:prstGeom>
          <a:solidFill>
            <a:srgbClr val="EDF6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88720" y="4645152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1A8"/>
                </a:solidFill>
              </a:rPr>
              <a:t>▶  EvaluationResult :  PhysicalModel  +  AcsResult  +  PowertrainResult  +  BatteryResult  +  constraint_results  +  combined_objective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 — 구조 분석 &amp; ACS (자세 제어 집합)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58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구조 분석 (StructuralAnalyzer)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D4"/>
                </a:solidFill>
              </a:rPr>
              <a:t>▸ </a:t>
            </a:r>
            <a:r>
              <a:rPr lang="en-US" sz="1050" dirty="0">
                <a:solidFill>
                  <a:srgbClr val="4A5A78"/>
                </a:solidFill>
              </a:rPr>
              <a:t>캔틸레버 빔 모델 적용 (암 = 속 빈 원형 단면)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D4"/>
                </a:solidFill>
              </a:rPr>
              <a:t>▸ </a:t>
            </a:r>
            <a:r>
              <a:rPr lang="en-US" sz="1050" dirty="0">
                <a:solidFill>
                  <a:srgbClr val="4A5A78"/>
                </a:solidFill>
              </a:rPr>
              <a:t>암 외반경 rₒ, 벽 두께 tₐ → 2차 단면 모멘트 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D4"/>
                </a:solidFill>
              </a:rPr>
              <a:t>▸ </a:t>
            </a:r>
            <a:r>
              <a:rPr lang="en-US" sz="1050" dirty="0">
                <a:solidFill>
                  <a:srgbClr val="4A5A78"/>
                </a:solidFill>
              </a:rPr>
              <a:t>최대 굽힘 하중 = 모터 추력 × 암 길이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D4"/>
                </a:solidFill>
              </a:rPr>
              <a:t>▸ </a:t>
            </a:r>
            <a:r>
              <a:rPr lang="en-US" sz="1050" dirty="0">
                <a:solidFill>
                  <a:srgbClr val="4A5A78"/>
                </a:solidFill>
              </a:rPr>
              <a:t>안전계수 SF = σ_yield / σ_bending ≥ 1.5 (하드 제약)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D4"/>
                </a:solidFill>
              </a:rPr>
              <a:t>▸ </a:t>
            </a:r>
            <a:r>
              <a:rPr lang="en-US" sz="1050" dirty="0">
                <a:solidFill>
                  <a:srgbClr val="4A5A78"/>
                </a:solidFill>
              </a:rPr>
              <a:t>6개 암 중 최솟값이 vehicle 안전계수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594360"/>
            <a:ext cx="4343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658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ACS 분석 (AttainableControlSetAnalyzer)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9875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할당 행렬 B ∈ ℝ⁴×⁶ (추력·롤·피치·요)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26187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LP 기반 호버 트림: 정상 + 6가지 단일 고장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53619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방향 마진 m(d) = h_U(d) − d'·u_req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81051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PFWAR: 확률 가중 ACS 보존율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08483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WCFR: 최악 고장 케이스 ACS 보존율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3591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C26"/>
                </a:solidFill>
              </a:rPr>
              <a:t>▸ </a:t>
            </a:r>
            <a:r>
              <a:rPr lang="en-US" sz="1000" dirty="0">
                <a:solidFill>
                  <a:srgbClr val="4A5A78"/>
                </a:solidFill>
              </a:rPr>
              <a:t>FII: 고장 등방성 지수 (FII &lt; 1이 이상적)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914400"/>
          </a:xfrm>
          <a:prstGeom prst="rect">
            <a:avLst/>
          </a:prstGeom>
          <a:solidFill>
            <a:srgbClr val="FFFBF0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73152" cy="914400"/>
          </a:xfrm>
          <a:prstGeom prst="rect">
            <a:avLst/>
          </a:prstGeom>
          <a:solidFill>
            <a:srgbClr val="F07C26"/>
          </a:solidFill>
          <a:ln w="12700">
            <a:solidFill>
              <a:srgbClr val="F07C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07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7C26"/>
                </a:solidFill>
              </a:rPr>
              <a:t>주요 발견: 모터 4/5 고장 취약 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182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A78"/>
                </a:solidFill>
              </a:rPr>
              <a:t>모터 3·4가 순수 롤 축(y축, 피치 암=0)에 위치 → 고장 시 호버 트림이 T₁=T₆=mg/2에 의존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A78"/>
                </a:solidFill>
              </a:rPr>
              <a:t>→ CG_x ≈ 0 근처에서 고장 LP의 나이프-엣지 현상 발생. 배터리 위치(bat_x)가 CG 보정 레버 역할 수행.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950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ACS 출력 파일 (--plot-acs 옵션)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acs_fig5_hover_poly.svg  — 호버 모멘트 다각형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206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acs_fig6_margins.svg  — 방향별 마진 바 차트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acs_retention.svg  — 모터별 ACS 보존율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480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acs_vertices.csv  — 4D 꼭짓점 클라우드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 — 파워트레인 &amp; 배터리 에너지 모델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583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파워트레인 모델 (PowertrainEvaluator)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794760" cy="475488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유효 디스크 반경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161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r_eff = max_arm_length /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3794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전기 동력 (i번째 로터)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P_i = Tᵢ^(3/2) / (η_total · √(2ρA_eff))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39696"/>
            <a:ext cx="3794760" cy="475488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67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총 정상 전력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3500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P_nom = Σ Pᵢ (정상 호버 트림)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3794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340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총 고장 전력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916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P_fault = Σ Pᵢ (최악 고장 트림)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8BAA"/>
                </a:solidFill>
              </a:rPr>
              <a:t>※ d_prop은 요(Yaw) 토크 스케일링에만 사용. 파워는 암 형상 기반 유효 디스크 면적으로 계산.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26280" y="594360"/>
            <a:ext cx="4343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658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배터리 에너지 모델 (BatteryEvaluator)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069080" cy="475488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33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가용 에너지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216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E_avail = η_pack · DoD · m_bat · e_spec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7276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임무 에너지 요구량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E_req = P_nom·t_nom + P_fault·t_emg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139696"/>
            <a:ext cx="4069080" cy="475488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67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에너지 여유분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350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 = (E_avail - E_req) / E_avail ≥ 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706624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340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C-rate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916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c_rate = P_peak / E_avail  ≤  5.0 /h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2918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40"/>
                </a:solidFill>
              </a:rPr>
              <a:t>기본 파라미터: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3502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e_spec = 250 Wh/kg (NMC811)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3502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DoD = 0.85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3502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η_pack = 0.95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7033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t_nom = 6 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37033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t_emg = 1 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FF8E8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977640"/>
            <a:ext cx="73152" cy="868680"/>
          </a:xfrm>
          <a:prstGeom prst="rect">
            <a:avLst/>
          </a:prstGeom>
          <a:solidFill>
            <a:srgbClr val="F07C26"/>
          </a:solidFill>
          <a:ln w="12700">
            <a:solidFill>
              <a:srgbClr val="F07C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041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7C26"/>
                </a:solidFill>
              </a:rPr>
              <a:t>배터리 질량 피드백 루프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A78"/>
                </a:solidFill>
              </a:rPr>
              <a:t>m_bat ↑  →  전체 질량 ↑  →  호버 추력 ↑  →  소비 전력 ↑  →  에너지 요구량 ↑  →  배터리 제약 검증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A78"/>
                </a:solidFill>
              </a:rPr>
              <a:t>→ 최소 배터리 질량(≈290 kg) 아래에서는 에너지 제약 위반 → 최적화 변수로 적절한 비선형 균형점 탐색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최적화 알고리즘 — SOO / MOO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4023360" cy="347472"/>
          </a:xfrm>
          <a:prstGeom prst="rect">
            <a:avLst/>
          </a:prstGeom>
          <a:solidFill>
            <a:srgbClr val="1451A8"/>
          </a:solidFill>
          <a:ln w="12700">
            <a:solidFill>
              <a:srgbClr val="145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94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SOO — 단일 목적 최적화 (SooRunner)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024128"/>
            <a:ext cx="379476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24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알고리즘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024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CMA-ES (Pagmo2)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344168"/>
            <a:ext cx="3794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344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인구 크기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344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24 (기본값)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664208"/>
            <a:ext cx="379476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세대 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1664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40 (기본값)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984248"/>
            <a:ext cx="3794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84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탐색 공간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정규화 [0,1]^16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304288"/>
            <a:ext cx="379476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042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실현 가능 기준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모든 하드 제약 + ACS LP 충족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624328"/>
            <a:ext cx="3794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624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출력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624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baseline / best_raw / best_feasible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017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페널티 전략: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2186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infeasible: 1e6 + Σ(penalty_weight × violation) + 1e4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feasible: combined_objective (가중합)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594360"/>
            <a:ext cx="4343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594360"/>
            <a:ext cx="4343400" cy="347472"/>
          </a:xfrm>
          <a:prstGeom prst="rect">
            <a:avLst/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94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MOO — 다목적 최적화 (MooRunner)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1024128"/>
            <a:ext cx="406908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1024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알고리즘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024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NSGA-II (Pagmo2)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344168"/>
            <a:ext cx="40690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1344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인구 크기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1344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48 (기본값)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664208"/>
            <a:ext cx="406908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7448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세대 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1664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60 (기본값)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984248"/>
            <a:ext cx="40690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1984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목적 함수군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1984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mass, power, fault_alloc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304288"/>
            <a:ext cx="4069080" cy="25603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23042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출력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304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Pareto 전선 (feasible subset)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624328"/>
            <a:ext cx="40690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A78"/>
                </a:solidFill>
              </a:rPr>
              <a:t>무릎점 분석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3640" y="2624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ParetoAnalyzer (knee point)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30175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Pareto 출력 예시 (3 목적):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321868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질량 최소  ←→  전력 최소  ←→  고장 내성 최대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34198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설계자가 트레이드오프 직접 선택 가능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EDF4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041648"/>
            <a:ext cx="12954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설계 벡터 x̂ ∈ [0,1]¹⁶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569720" y="4270248"/>
            <a:ext cx="137160" cy="0"/>
          </a:xfrm>
          <a:prstGeom prst="line">
            <a:avLst/>
          </a:prstGeom>
          <a:noFill/>
          <a:ln w="19050">
            <a:solidFill>
              <a:srgbClr val="00C4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06880" y="4041648"/>
            <a:ext cx="1295400" cy="457200"/>
          </a:xfrm>
          <a:prstGeom prst="rect">
            <a:avLst/>
          </a:prstGeom>
          <a:solidFill>
            <a:srgbClr val="1451A8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0688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DesignVectorMapper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002280" y="4270248"/>
            <a:ext cx="137160" cy="0"/>
          </a:xfrm>
          <a:prstGeom prst="line">
            <a:avLst/>
          </a:prstGeom>
          <a:noFill/>
          <a:ln w="19050">
            <a:solidFill>
              <a:srgbClr val="00C4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39440" y="4041648"/>
            <a:ext cx="1295400" cy="457200"/>
          </a:xfrm>
          <a:prstGeom prst="rect">
            <a:avLst/>
          </a:prstGeom>
          <a:solidFill>
            <a:srgbClr val="1451A8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944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HexacopterArchitecture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434840" y="4270248"/>
            <a:ext cx="137160" cy="0"/>
          </a:xfrm>
          <a:prstGeom prst="line">
            <a:avLst/>
          </a:prstGeom>
          <a:noFill/>
          <a:ln w="19050">
            <a:solidFill>
              <a:srgbClr val="00C4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0" y="4041648"/>
            <a:ext cx="1295400" cy="457200"/>
          </a:xfrm>
          <a:prstGeom prst="rect">
            <a:avLst/>
          </a:prstGeom>
          <a:solidFill>
            <a:srgbClr val="1451A8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Stage1Evaluator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867400" y="4270248"/>
            <a:ext cx="137160" cy="0"/>
          </a:xfrm>
          <a:prstGeom prst="line">
            <a:avLst/>
          </a:prstGeom>
          <a:noFill/>
          <a:ln w="19050">
            <a:solidFill>
              <a:srgbClr val="00C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04560" y="4041648"/>
            <a:ext cx="1295400" cy="457200"/>
          </a:xfrm>
          <a:prstGeom prst="rect">
            <a:avLst/>
          </a:prstGeom>
          <a:solidFill>
            <a:srgbClr val="1451A8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0456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Pagmo Fitness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99960" y="4270248"/>
            <a:ext cx="137160" cy="0"/>
          </a:xfrm>
          <a:prstGeom prst="line">
            <a:avLst/>
          </a:prstGeom>
          <a:noFill/>
          <a:ln w="19050">
            <a:solidFill>
              <a:srgbClr val="00C4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37120" y="4041648"/>
            <a:ext cx="12954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0B8F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37120" y="4041648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다음 세대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78"/>
                </a:solidFill>
              </a:rPr>
              <a:t>반복 최적화 루프 (정규화 공간에서 탐색 → 물리 단위 변환 후 평가)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C++ 코드 아키텍처 (FrameworkCpp)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657600" cy="4251960"/>
          </a:xfrm>
          <a:prstGeom prst="rect">
            <a:avLst/>
          </a:prstGeom>
          <a:solidFill>
            <a:srgbClr val="1A1A2E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583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E8"/>
                </a:solidFill>
              </a:rPr>
              <a:t>디렉토리 구조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C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app/  (main.cpp)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C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include/ + src/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core/  (Architecture, Elements)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293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physics/  (Structural, ACS, Power, Battery)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evaluation/  (Stage1, Evaluator)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optimization/  (SOO, MOO, Pagmo)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analysis/  (CSV, JSON, Pareto, ACS Plot)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9169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visualization/  (ImGui / Vulkan 3D)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docs/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4107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CODEBASE.md  (아키텍처 레퍼런스)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Optimization.md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9044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├─ Phase2_Powertrain_Battery.md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tests/  (smoke tests)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0520" y="6583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핵심 클래스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960120"/>
            <a:ext cx="4709160" cy="393192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960120"/>
            <a:ext cx="54864" cy="393192"/>
          </a:xfrm>
          <a:prstGeom prst="rect">
            <a:avLst/>
          </a:prstGeom>
          <a:solidFill>
            <a:srgbClr val="F07C26"/>
          </a:solidFill>
          <a:ln w="12700">
            <a:solidFill>
              <a:srgbClr val="F07C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9784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HexacopterArchitecture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79392" y="11612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루트 객체: 파라미터·요소·제약 레지스트리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1426464"/>
            <a:ext cx="4709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1426464"/>
            <a:ext cx="54864" cy="393192"/>
          </a:xfrm>
          <a:prstGeom prst="rect">
            <a:avLst/>
          </a:prstGeom>
          <a:solidFill>
            <a:srgbClr val="F07C26"/>
          </a:solidFill>
          <a:ln w="12700">
            <a:solidFill>
              <a:srgbClr val="F07C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1444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DesignParameter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9392" y="162763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설계 변수 (값·경계·정규화·ID)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1892808"/>
            <a:ext cx="4709160" cy="393192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1892808"/>
            <a:ext cx="54864" cy="39319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19110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Stage1Evaluator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79392" y="209397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5-단계 다분야 평가 파이프라인 실행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2359152"/>
            <a:ext cx="4709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2359152"/>
            <a:ext cx="54864" cy="393192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9392" y="2377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PagmoProblemAdapter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79392" y="2560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Pagmo2 인터페이스 어댑터 (SOO/MOO 공용)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2825496"/>
            <a:ext cx="4709160" cy="393192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0520" y="2825496"/>
            <a:ext cx="54864" cy="3931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392" y="28437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SooRunner / MooRunner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79392" y="30266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CMA-ES / NSGA-II 실행 래퍼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60520" y="3291840"/>
            <a:ext cx="4709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60520" y="3291840"/>
            <a:ext cx="54864" cy="3931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9392" y="33101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CsvExporter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79392" y="349300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결과 CSV·JSON 내보내기 (물리 단위)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60520" y="3758184"/>
            <a:ext cx="4709160" cy="393192"/>
          </a:xfrm>
          <a:prstGeom prst="rect">
            <a:avLst/>
          </a:prstGeom>
          <a:solidFill>
            <a:srgbClr val="F2F6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60520" y="3758184"/>
            <a:ext cx="54864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9392" y="3776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AcsPlotter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79392" y="39593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SVG ACS 시각화 (외부 의존성 없음)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60520" y="4224528"/>
            <a:ext cx="4709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4224528"/>
            <a:ext cx="54864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424281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ArchitectureViewerApp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279392" y="442569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8"/>
                </a:solidFill>
              </a:rPr>
              <a:t>ImGui/Vulkan 실시간 3D 뷰어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실행 방법 &amp; 출력 결과물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B8FD4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5029200" cy="2788920"/>
          </a:xfrm>
          <a:prstGeom prst="rect">
            <a:avLst/>
          </a:prstGeom>
          <a:solidFill>
            <a:srgbClr val="12192E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583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E8"/>
                </a:solidFill>
              </a:rPr>
              <a:t>CLI 실행 명령어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기준선 설계 평가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SOO (단일 목적 최적화)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soo --soo-pop 24 --soo-gen 40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55064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MOO (다목적 최적화)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moo --moo-pop 48 --moo-gen 60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02536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SOO+MOO 비교 전체 실행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13969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compare --output-dir ./out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350008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실시간 3D 시각화 포함 SOO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soo --visualize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697480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ACS SVG 플롯 생성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FrameworkCpp.exe eval --plot-acs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594360"/>
            <a:ext cx="333756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6583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출력 파일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960120"/>
            <a:ext cx="3127248" cy="3017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97840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87568" y="112471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기준선 vs 최적해 비교 (15컬럼)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23560" y="1325880"/>
            <a:ext cx="31272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34416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soo_parameters.csv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87568" y="149047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SOO 최적 설계 변수 (물리 단위)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23560" y="1691640"/>
            <a:ext cx="3127248" cy="3017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170992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pareto_front.csv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7568" y="185623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Pareto 전선 목적값·안전계수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23560" y="2057400"/>
            <a:ext cx="31272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07568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soo_run.json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87568" y="222199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전체 SOO 결과 (물리 모델 포함)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23560" y="2423160"/>
            <a:ext cx="3127248" cy="301752"/>
          </a:xfrm>
          <a:prstGeom prst="rect">
            <a:avLst/>
          </a:prstGeom>
          <a:solidFill>
            <a:srgbClr val="F2F6FD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44144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moo_run.json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7568" y="258775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MOO 결과 (Pareto 집단)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23560" y="2788920"/>
            <a:ext cx="31272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80720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acs/*.svg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87568" y="2953512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78"/>
                </a:solidFill>
              </a:rPr>
              <a:t>ACS 방향 마진·보존율 차트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493008"/>
            <a:ext cx="8595360" cy="594360"/>
          </a:xfrm>
          <a:prstGeom prst="rect">
            <a:avLst/>
          </a:prstGeom>
          <a:solidFill>
            <a:srgbClr val="EDF4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" y="35570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대화형 모드 (인자 없이 실행 시):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" y="3749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8"/>
                </a:solidFill>
              </a:rPr>
              <a:t>모드 선택 → 출력 경로 입력 → 시각화 여부 → ACS 플롯 여부 → 실행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38912" y="4224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3D 시각화 (ArchitectureViewerApp — ImGui + Vulkan)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8912" y="44805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• 실시간 암/모터/로터/페이로드 렌더링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36592" y="44805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• 최적화 진행에 따른 실시간 갱신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8912" y="46817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• JSON에서 SOO/MOO 결과 불러와 시각화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36592" y="46817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</a:rPr>
              <a:t>• 좌측 패널: 요소별 질량·위치 표시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FD4"/>
          </a:solidFill>
          <a:ln w="12700">
            <a:solidFill>
              <a:srgbClr val="0B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결론 및 향후 과제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412480" cy="0"/>
          </a:xfrm>
          <a:prstGeom prst="line">
            <a:avLst/>
          </a:prstGeom>
          <a:noFill/>
          <a:ln w="12700">
            <a:solidFill>
              <a:srgbClr val="0B8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C++ 고성능 MDO 프레임워크 구현 — 5개 분야 통합 평가 (구조·ACS·추진·배터리·패키징)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1848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184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16개 설계 변수, 11+개 하드 제약 → Pagmo2 기반 SOO(CMA-ES) + MOO(NSGA-II)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12140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Phase 2: 배터리 에너지·C-rate 제약 및 파워트레인 모델 통합 완료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2432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6243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승객·화물·배터리 3D 위치 최적화 + 캐빈 패키징 제약 (AABB 기반)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2724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1272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ImGui/Vulkan 실시간 3D 시각화 + ACS SVG 플롯 자동 생성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675888"/>
            <a:ext cx="8412480" cy="0"/>
          </a:xfrm>
          <a:prstGeom prst="line">
            <a:avLst/>
          </a:prstGeom>
          <a:noFill/>
          <a:ln w="6350">
            <a:solidFill>
              <a:srgbClr val="0B8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E8"/>
                </a:solidFill>
              </a:rPr>
              <a:t>향후 과제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ED4"/>
                </a:solidFill>
              </a:rPr>
              <a:t>→ 실제 비행 데이터 기반 물리 모델 보정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4023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ED4"/>
                </a:solidFill>
              </a:rPr>
              <a:t>→ 고충실도 CFD/FEM 모델 연동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297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ED4"/>
                </a:solidFill>
              </a:rPr>
              <a:t>→ 항속 거리·소음 목적함수 추가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297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ED4"/>
                </a:solidFill>
              </a:rPr>
              <a:t>→ 다중 임무 프로파일(순항+호버) 최적화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A"/>
                </a:solidFill>
              </a:rPr>
              <a:t>항공우주 시스템의 다분야 최적 설계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2042</Words>
  <Application>Microsoft Office PowerPoint</Application>
  <PresentationFormat>화면 슬라이드 쇼(16:9)</PresentationFormat>
  <Paragraphs>339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UAM 헥사콥터 다분야 최적 설계 프레임워크</dc:title>
  <dc:subject>PptxGenJS Presentation</dc:subject>
  <dc:creator>PptxGenJS</dc:creator>
  <cp:lastModifiedBy>배형준</cp:lastModifiedBy>
  <cp:revision>1</cp:revision>
  <dcterms:created xsi:type="dcterms:W3CDTF">2026-05-28T06:29:36Z</dcterms:created>
  <dcterms:modified xsi:type="dcterms:W3CDTF">2026-05-29T04:53:58Z</dcterms:modified>
</cp:coreProperties>
</file>