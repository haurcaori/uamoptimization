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0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B8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46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>
                <a:solidFill>
                  <a:srgbClr val="FFFFFF"/>
                </a:solidFill>
                <a:latin typeface="Calibri Light"/>
              </a:rPr>
              <a:t>UAM Hexacopter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8046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0C4E8"/>
                </a:solidFill>
                <a:latin typeface="Calibri Light"/>
              </a:rPr>
              <a:t>Multidisciplinary Design Optimization Framework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542032"/>
            <a:ext cx="2194560" cy="36576"/>
          </a:xfrm>
          <a:prstGeom prst="rect">
            <a:avLst/>
          </a:prstGeom>
          <a:solidFill>
            <a:srgbClr val="F0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97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D8E4F0"/>
                </a:solidFill>
                <a:latin typeface="Calibri"/>
              </a:rPr>
              <a:t>FrameworkCpp  ·  A C++ MDO System for eVTOL Hexacopter Design Optimization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703320"/>
            <a:ext cx="2267712" cy="329184"/>
          </a:xfrm>
          <a:prstGeom prst="rect">
            <a:avLst/>
          </a:prstGeom>
          <a:solidFill>
            <a:srgbClr val="1A2340"/>
          </a:solidFill>
          <a:ln w="15875">
            <a:solidFill>
              <a:srgbClr val="0B8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703320"/>
            <a:ext cx="226771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Pagmo2 · CMA-ES / NSGA-II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80944" y="3703320"/>
            <a:ext cx="2604211" cy="329184"/>
          </a:xfrm>
          <a:prstGeom prst="rect">
            <a:avLst/>
          </a:prstGeom>
          <a:solidFill>
            <a:srgbClr val="1A2340"/>
          </a:solidFill>
          <a:ln w="15875">
            <a:solidFill>
              <a:srgbClr val="1451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80944" y="3703320"/>
            <a:ext cx="2604211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ACS · Structural · Powertrain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49747" y="3703320"/>
            <a:ext cx="1762963" cy="329184"/>
          </a:xfrm>
          <a:prstGeom prst="rect">
            <a:avLst/>
          </a:prstGeom>
          <a:solidFill>
            <a:srgbClr val="1A2340"/>
          </a:solidFill>
          <a:ln w="15875">
            <a:solidFill>
              <a:srgbClr val="F07C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49747" y="3703320"/>
            <a:ext cx="1762963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16 design variables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77302" y="3703320"/>
            <a:ext cx="1762963" cy="329184"/>
          </a:xfrm>
          <a:prstGeom prst="rect">
            <a:avLst/>
          </a:prstGeom>
          <a:solidFill>
            <a:srgbClr val="1A2340"/>
          </a:solidFill>
          <a:ln w="15875">
            <a:solidFill>
              <a:srgbClr val="3FA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77302" y="3703320"/>
            <a:ext cx="1762963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18 hard constraints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5262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7A8BAA"/>
                </a:solidFill>
                <a:latin typeface="Calibri"/>
              </a:rPr>
              <a:t>Multidisciplinary Design Optimization of Aerospace Systems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566928"/>
          </a:xfrm>
          <a:prstGeom prst="rect">
            <a:avLst/>
          </a:prstGeom>
          <a:solidFill>
            <a:srgbClr val="F0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0"/>
            <a:ext cx="7863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Calibri Light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0"/>
            <a:ext cx="777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0C4E8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4864608"/>
            <a:ext cx="8503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7A8BAA"/>
                </a:solidFill>
                <a:latin typeface="Calibri"/>
              </a:rPr>
              <a:t>Multidisciplinary Design Optimization of Aerospace Systems  ·  FrameworkCpp  ·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" y="822960"/>
            <a:ext cx="4160520" cy="1207008"/>
          </a:xfrm>
          <a:prstGeom prst="rect">
            <a:avLst/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9184" y="822960"/>
            <a:ext cx="64008" cy="1207008"/>
          </a:xfrm>
          <a:prstGeom prst="rect">
            <a:avLst/>
          </a:prstGeom>
          <a:solidFill>
            <a:srgbClr val="0B8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89611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B8FD4"/>
                </a:solidFill>
                <a:latin typeface="Calibri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896112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D1B3E"/>
                </a:solidFill>
                <a:latin typeface="Calibri"/>
              </a:rPr>
              <a:t>Study Object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207008"/>
            <a:ext cx="345643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4A5A78"/>
                </a:solidFill>
                <a:latin typeface="Calibri"/>
              </a:rPr>
              <a:t>UAM (Urban Air Mobility) hexacopter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4A5A78"/>
                </a:solidFill>
                <a:latin typeface="Calibri"/>
              </a:rPr>
              <a:t>— 6-motor asymmetric hexacopter architecture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4A5A78"/>
                </a:solidFill>
                <a:latin typeface="Calibri"/>
              </a:rPr>
              <a:t>— Designed around an eVTOL operating mission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" y="2157984"/>
            <a:ext cx="4160520" cy="1207008"/>
          </a:xfrm>
          <a:prstGeom prst="rect">
            <a:avLst/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" y="2157984"/>
            <a:ext cx="64008" cy="1207008"/>
          </a:xfrm>
          <a:prstGeom prst="rect">
            <a:avLst/>
          </a:prstGeom>
          <a:solidFill>
            <a:srgbClr val="0B8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23113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B8FD4"/>
                </a:solidFill>
                <a:latin typeface="Calibri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231136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D1B3E"/>
                </a:solidFill>
                <a:latin typeface="Calibri"/>
              </a:rPr>
              <a:t>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2542032"/>
            <a:ext cx="345643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4A5A78"/>
                </a:solidFill>
                <a:latin typeface="Calibri"/>
              </a:rPr>
              <a:t>A single MDO framework that simultaneously couples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4A5A78"/>
                </a:solidFill>
                <a:latin typeface="Calibri"/>
              </a:rPr>
              <a:t>structure · propulsion · ACS · powertrain · battery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4A5A78"/>
                </a:solidFill>
                <a:latin typeface="Calibri"/>
              </a:rPr>
              <a:t>— supports both single- and multi-objective search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" y="3493008"/>
            <a:ext cx="4160520" cy="1207008"/>
          </a:xfrm>
          <a:prstGeom prst="rect">
            <a:avLst/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9184" y="3493008"/>
            <a:ext cx="64008" cy="1207008"/>
          </a:xfrm>
          <a:prstGeom prst="rect">
            <a:avLst/>
          </a:prstGeom>
          <a:solidFill>
            <a:srgbClr val="0B8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56616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B8FD4"/>
                </a:solidFill>
                <a:latin typeface="Calibri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356616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D1B3E"/>
                </a:solidFill>
                <a:latin typeface="Calibri"/>
              </a:rPr>
              <a:t>Key Contribution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3877056"/>
            <a:ext cx="345643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4A5A78"/>
                </a:solidFill>
                <a:latin typeface="Calibri"/>
              </a:rPr>
              <a:t>High-performance C++ evaluation engine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4A5A78"/>
                </a:solidFill>
                <a:latin typeface="Calibri"/>
              </a:rPr>
              <a:t>+ Pagmo2 (CMA-ES / NSGA-II) integration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4A5A78"/>
                </a:solidFill>
                <a:latin typeface="Calibri"/>
              </a:rPr>
              <a:t>+ real-time 3D visualization (ImGui / Vulkan)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36592" y="74980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D1B3E"/>
                </a:solidFill>
                <a:latin typeface="Calibri"/>
              </a:rPr>
              <a:t>Framework at a Glance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36592" y="1115568"/>
            <a:ext cx="4078224" cy="841248"/>
          </a:xfrm>
          <a:prstGeom prst="rect">
            <a:avLst/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36592" y="1115568"/>
            <a:ext cx="64008" cy="841248"/>
          </a:xfrm>
          <a:prstGeom prst="rect">
            <a:avLst/>
          </a:prstGeom>
          <a:solidFill>
            <a:srgbClr val="0B8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82896" y="1115568"/>
            <a:ext cx="9144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0B8FD4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1243584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D1B3E"/>
                </a:solidFill>
                <a:latin typeface="Calibri"/>
              </a:rPr>
              <a:t>analysis disciplines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1536192"/>
            <a:ext cx="2907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4A5A78"/>
                </a:solidFill>
                <a:latin typeface="Calibri"/>
              </a:rPr>
              <a:t>structure · ACS · powertrain · battery · packaging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36592" y="2029967"/>
            <a:ext cx="4078224" cy="841248"/>
          </a:xfrm>
          <a:prstGeom prst="rect">
            <a:avLst/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36592" y="2029967"/>
            <a:ext cx="64008" cy="841248"/>
          </a:xfrm>
          <a:prstGeom prst="rect">
            <a:avLst/>
          </a:prstGeom>
          <a:solidFill>
            <a:srgbClr val="F0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82896" y="2029967"/>
            <a:ext cx="9144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F07C26"/>
                </a:solidFill>
                <a:latin typeface="Calibri"/>
              </a:rPr>
              <a:t>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2157984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D1B3E"/>
                </a:solidFill>
                <a:latin typeface="Calibri"/>
              </a:rPr>
              <a:t>active design variables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2450591"/>
            <a:ext cx="2907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4A5A78"/>
                </a:solidFill>
                <a:latin typeface="Calibri"/>
              </a:rPr>
              <a:t>geometry 4 + structure 2 + battery 1 + positions 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36592" y="2944368"/>
            <a:ext cx="4078224" cy="841248"/>
          </a:xfrm>
          <a:prstGeom prst="rect">
            <a:avLst/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736592" y="2944368"/>
            <a:ext cx="64008" cy="841248"/>
          </a:xfrm>
          <a:prstGeom prst="rect">
            <a:avLst/>
          </a:prstGeom>
          <a:solidFill>
            <a:srgbClr val="3F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82896" y="2944368"/>
            <a:ext cx="9144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3FA06B"/>
                </a:solidFill>
                <a:latin typeface="Calibri"/>
              </a:rPr>
              <a:t>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3072384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D1B3E"/>
                </a:solidFill>
                <a:latin typeface="Calibri"/>
              </a:rPr>
              <a:t>hard constraints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2160" y="3364991"/>
            <a:ext cx="2907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4A5A78"/>
                </a:solidFill>
                <a:latin typeface="Calibri"/>
              </a:rPr>
              <a:t>geometry · packaging · ACS · structural · battery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36592" y="3858768"/>
            <a:ext cx="4078224" cy="841248"/>
          </a:xfrm>
          <a:prstGeom prst="rect">
            <a:avLst/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736592" y="3858768"/>
            <a:ext cx="64008" cy="841248"/>
          </a:xfrm>
          <a:prstGeom prst="rect">
            <a:avLst/>
          </a:prstGeom>
          <a:solidFill>
            <a:srgbClr val="145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82896" y="3858768"/>
            <a:ext cx="9144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1451A8"/>
                </a:solidFill>
                <a:latin typeface="Calibri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52160" y="3986783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D1B3E"/>
                </a:solidFill>
                <a:latin typeface="Calibri"/>
              </a:rPr>
              <a:t>optimization algorithms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52160" y="4279392"/>
            <a:ext cx="2907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4A5A78"/>
                </a:solidFill>
                <a:latin typeface="Calibri"/>
              </a:rPr>
              <a:t>SOO (CMA-ES)  +  MOO (NSGA-II)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566928"/>
          </a:xfrm>
          <a:prstGeom prst="rect">
            <a:avLst/>
          </a:prstGeom>
          <a:solidFill>
            <a:srgbClr val="F0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0"/>
            <a:ext cx="7863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Calibri Light"/>
              </a:rPr>
              <a:t>Optimization Design Variables (16 active)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0"/>
            <a:ext cx="777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0C4E8"/>
                </a:solidFill>
                <a:latin typeface="Calibr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4864608"/>
            <a:ext cx="8503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7A8BAA"/>
                </a:solidFill>
                <a:latin typeface="Calibri"/>
              </a:rPr>
              <a:t>Multidisciplinary Design Optimization of Aerospace Systems  ·  FrameworkCpp  ·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" y="658368"/>
            <a:ext cx="2743200" cy="1956816"/>
          </a:xfrm>
          <a:prstGeom prst="rect">
            <a:avLst/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9184" y="658368"/>
            <a:ext cx="64008" cy="1956816"/>
          </a:xfrm>
          <a:prstGeom prst="rect">
            <a:avLst/>
          </a:prstGeom>
          <a:solidFill>
            <a:srgbClr val="0B8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704088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D1B3E"/>
                </a:solidFill>
                <a:latin typeface="Calibri"/>
              </a:rPr>
              <a:t>Geometry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969264"/>
            <a:ext cx="252374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B8FD4"/>
                </a:solidFill>
                <a:latin typeface="Consolas"/>
              </a:rPr>
              <a:t>Lx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156716"/>
            <a:ext cx="25237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4A5A78"/>
                </a:solidFill>
                <a:latin typeface="Calibri"/>
              </a:rPr>
              <a:t>default 2.65 m  ·  range [2.0 – 5.0]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389888"/>
            <a:ext cx="252374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B8FD4"/>
                </a:solidFill>
                <a:latin typeface="Consolas"/>
              </a:rPr>
              <a:t>Lyi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1577340"/>
            <a:ext cx="25237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4A5A78"/>
                </a:solidFill>
                <a:latin typeface="Calibri"/>
              </a:rPr>
              <a:t>default 2.65 m  ·  range [2.0 – 5.0]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810512"/>
            <a:ext cx="252374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B8FD4"/>
                </a:solidFill>
                <a:latin typeface="Consolas"/>
              </a:rPr>
              <a:t>Lyo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997964"/>
            <a:ext cx="25237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4A5A78"/>
                </a:solidFill>
                <a:latin typeface="Calibri"/>
              </a:rPr>
              <a:t>default 5.50 m  ·  range [2.5 – 9.0]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231136"/>
            <a:ext cx="252374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B8FD4"/>
                </a:solidFill>
                <a:latin typeface="Consolas"/>
              </a:rPr>
              <a:t>T_max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2418588"/>
            <a:ext cx="25237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4A5A78"/>
                </a:solidFill>
                <a:latin typeface="Calibri"/>
              </a:rPr>
              <a:t>default 12000 N  ·  range [8k – 20k]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658368"/>
            <a:ext cx="2743200" cy="1536192"/>
          </a:xfrm>
          <a:prstGeom prst="rect">
            <a:avLst/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0" y="658368"/>
            <a:ext cx="64008" cy="1536192"/>
          </a:xfrm>
          <a:prstGeom prst="rect">
            <a:avLst/>
          </a:prstGeom>
          <a:solidFill>
            <a:srgbClr val="F0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6704" y="704088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D1B3E"/>
                </a:solidFill>
                <a:latin typeface="Calibri"/>
              </a:rPr>
              <a:t>Structure &amp; Energy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46704" y="969264"/>
            <a:ext cx="252374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07C26"/>
                </a:solidFill>
                <a:latin typeface="Consolas"/>
              </a:rPr>
              <a:t>arm_outer_radius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1156716"/>
            <a:ext cx="25237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4A5A78"/>
                </a:solidFill>
                <a:latin typeface="Calibri"/>
              </a:rPr>
              <a:t>default 0.08 m  ·  [0.02 – 0.15]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1389888"/>
            <a:ext cx="252374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07C26"/>
                </a:solidFill>
                <a:latin typeface="Consolas"/>
              </a:rPr>
              <a:t>arm_wall_thickness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46704" y="1577340"/>
            <a:ext cx="25237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4A5A78"/>
                </a:solidFill>
                <a:latin typeface="Calibri"/>
              </a:rPr>
              <a:t>default 0.005 m  ·  [0.001 – 0.020]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46704" y="1810512"/>
            <a:ext cx="252374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07C26"/>
                </a:solidFill>
                <a:latin typeface="Consolas"/>
              </a:rPr>
              <a:t>m_bat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46704" y="1997964"/>
            <a:ext cx="25237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4A5A78"/>
                </a:solidFill>
                <a:latin typeface="Calibri"/>
              </a:rPr>
              <a:t>default 400 kg  ·  range [100 – 1000]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1616" y="658368"/>
            <a:ext cx="2743200" cy="1536192"/>
          </a:xfrm>
          <a:prstGeom prst="rect">
            <a:avLst/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71616" y="658368"/>
            <a:ext cx="64008" cy="1536192"/>
          </a:xfrm>
          <a:prstGeom prst="rect">
            <a:avLst/>
          </a:prstGeom>
          <a:solidFill>
            <a:srgbClr val="3F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704088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D1B3E"/>
                </a:solidFill>
                <a:latin typeface="Calibri"/>
              </a:rPr>
              <a:t>Passenger Position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969264"/>
            <a:ext cx="252374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3FA06B"/>
                </a:solidFill>
                <a:latin typeface="Consolas"/>
              </a:rPr>
              <a:t>pax_x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1156716"/>
            <a:ext cx="25237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4A5A78"/>
                </a:solidFill>
                <a:latin typeface="Calibri"/>
              </a:rPr>
              <a:t>0.00 m  ·  range [-0.25, +0.25]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1389888"/>
            <a:ext cx="252374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3FA06B"/>
                </a:solidFill>
                <a:latin typeface="Consolas"/>
              </a:rPr>
              <a:t>pax_y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1577340"/>
            <a:ext cx="25237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4A5A78"/>
                </a:solidFill>
                <a:latin typeface="Calibri"/>
              </a:rPr>
              <a:t>0.00 m  ·  range [-0.42, +0.42]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1810512"/>
            <a:ext cx="252374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3FA06B"/>
                </a:solidFill>
                <a:latin typeface="Consolas"/>
              </a:rPr>
              <a:t>pax_z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1997964"/>
            <a:ext cx="25237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4A5A78"/>
                </a:solidFill>
                <a:latin typeface="Calibri"/>
              </a:rPr>
              <a:t>-0.10 m  ·  range [-0.50, +0.40]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0" y="2670048"/>
            <a:ext cx="2743200" cy="1536192"/>
          </a:xfrm>
          <a:prstGeom prst="rect">
            <a:avLst/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0" y="2670048"/>
            <a:ext cx="64008" cy="1536192"/>
          </a:xfrm>
          <a:prstGeom prst="rect">
            <a:avLst/>
          </a:prstGeom>
          <a:solidFill>
            <a:srgbClr val="145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6704" y="2715768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D1B3E"/>
                </a:solidFill>
                <a:latin typeface="Calibri"/>
              </a:rPr>
              <a:t>Cargo Position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46704" y="2980944"/>
            <a:ext cx="252374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451A8"/>
                </a:solidFill>
                <a:latin typeface="Consolas"/>
              </a:rPr>
              <a:t>cargo_x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46704" y="3168396"/>
            <a:ext cx="25237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4A5A78"/>
                </a:solidFill>
                <a:latin typeface="Calibri"/>
              </a:rPr>
              <a:t>0.00 m  ·  range [-0.50, +0.50]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46704" y="3401568"/>
            <a:ext cx="252374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451A8"/>
                </a:solidFill>
                <a:latin typeface="Consolas"/>
              </a:rPr>
              <a:t>cargo_y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46704" y="3589020"/>
            <a:ext cx="25237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4A5A78"/>
                </a:solidFill>
                <a:latin typeface="Calibri"/>
              </a:rPr>
              <a:t>0.00 m  ·  range [-0.45, +0.45]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46704" y="3822191"/>
            <a:ext cx="252374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451A8"/>
                </a:solidFill>
                <a:latin typeface="Consolas"/>
              </a:rPr>
              <a:t>cargo_z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46704" y="4009644"/>
            <a:ext cx="25237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4A5A78"/>
                </a:solidFill>
                <a:latin typeface="Calibri"/>
              </a:rPr>
              <a:t>0.75 m  ·  range [0.30, 1.00]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71616" y="2670048"/>
            <a:ext cx="2743200" cy="1536192"/>
          </a:xfrm>
          <a:prstGeom prst="rect">
            <a:avLst/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071616" y="2670048"/>
            <a:ext cx="64008" cy="1536192"/>
          </a:xfrm>
          <a:prstGeom prst="rect">
            <a:avLst/>
          </a:prstGeom>
          <a:solidFill>
            <a:srgbClr val="1A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0" y="2715768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D1B3E"/>
                </a:solidFill>
                <a:latin typeface="Calibri"/>
              </a:rPr>
              <a:t>Battery Position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2980944"/>
            <a:ext cx="252374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A3A6E"/>
                </a:solidFill>
                <a:latin typeface="Consolas"/>
              </a:rPr>
              <a:t>bat_x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3168396"/>
            <a:ext cx="25237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4A5A78"/>
                </a:solidFill>
                <a:latin typeface="Calibri"/>
              </a:rPr>
              <a:t>0.00 m  ·  range [-0.50, +0.50]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3401568"/>
            <a:ext cx="252374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A3A6E"/>
                </a:solidFill>
                <a:latin typeface="Consolas"/>
              </a:rPr>
              <a:t>bat_y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3589020"/>
            <a:ext cx="25237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4A5A78"/>
                </a:solidFill>
                <a:latin typeface="Calibri"/>
              </a:rPr>
              <a:t>0.00 m  ·  range [-0.55, +0.55]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0" y="3822191"/>
            <a:ext cx="252374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A3A6E"/>
                </a:solidFill>
                <a:latin typeface="Consolas"/>
              </a:rPr>
              <a:t>bat_z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0" y="4009644"/>
            <a:ext cx="25237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4A5A78"/>
                </a:solidFill>
                <a:latin typeface="Calibri"/>
              </a:rPr>
              <a:t>-0.90 m  ·  range [-1.00, +0.85]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9184" y="2670048"/>
            <a:ext cx="2743200" cy="1517904"/>
          </a:xfrm>
          <a:prstGeom prst="rect">
            <a:avLst/>
          </a:prstGeom>
          <a:solidFill>
            <a:srgbClr val="D8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29184" y="2670048"/>
            <a:ext cx="64008" cy="1517904"/>
          </a:xfrm>
          <a:prstGeom prst="rect">
            <a:avLst/>
          </a:prstGeom>
          <a:solidFill>
            <a:srgbClr val="7A8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5488" y="2715768"/>
            <a:ext cx="2468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D1B3E"/>
                </a:solidFill>
                <a:latin typeface="Calibri"/>
              </a:rPr>
              <a:t>Variable handling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5488" y="2999232"/>
            <a:ext cx="248716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4A5A78"/>
                </a:solidFill>
                <a:latin typeface="Calibri"/>
              </a:rPr>
              <a:t>• All 16 variables normalized to </a:t>
            </a:r>
            <a:r>
              <a:rPr sz="850" b="1">
                <a:solidFill>
                  <a:srgbClr val="0D1B3E"/>
                </a:solidFill>
                <a:latin typeface="Calibri"/>
              </a:rPr>
              <a:t>[0,1]</a:t>
            </a:r>
            <a:r>
              <a:rPr sz="850" b="0">
                <a:solidFill>
                  <a:srgbClr val="4A5A78"/>
                </a:solidFill>
                <a:latin typeface="Calibri"/>
              </a:rPr>
              <a:t>; </a:t>
            </a:r>
            <a:r>
              <a:rPr sz="850" b="1">
                <a:solidFill>
                  <a:srgbClr val="0D1B3E"/>
                </a:solidFill>
                <a:latin typeface="Calibri"/>
              </a:rPr>
              <a:t>DesignVectorMapper</a:t>
            </a:r>
            <a:r>
              <a:rPr sz="850" b="0">
                <a:solidFill>
                  <a:srgbClr val="4A5A78"/>
                </a:solidFill>
                <a:latin typeface="Calibri"/>
              </a:rPr>
              <a:t> → physical units.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4A5A78"/>
                </a:solidFill>
                <a:latin typeface="Calibri"/>
              </a:rPr>
              <a:t>• pax / cargo / battery are </a:t>
            </a:r>
            <a:r>
              <a:rPr sz="850" b="1">
                <a:solidFill>
                  <a:srgbClr val="F07C26"/>
                </a:solidFill>
                <a:latin typeface="Calibri"/>
              </a:rPr>
              <a:t>element-owned body-frame placement variables</a:t>
            </a:r>
            <a:r>
              <a:rPr sz="850" b="0">
                <a:solidFill>
                  <a:srgbClr val="4A5A78"/>
                </a:solidFill>
                <a:latin typeface="Calibri"/>
              </a:rPr>
              <a:t> (each element encodes them in its local_pose_) — this is why packaging constraints and the 3D viewer matter.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9184" y="4370832"/>
            <a:ext cx="8503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07C26"/>
                </a:solidFill>
                <a:latin typeface="Calibri"/>
              </a:rPr>
              <a:t>★  Fixed (inactive) parameters: </a:t>
            </a:r>
            <a:r>
              <a:rPr sz="900" b="0">
                <a:solidFill>
                  <a:srgbClr val="4A5A78"/>
                </a:solidFill>
                <a:latin typeface="Calibri"/>
              </a:rPr>
              <a:t>cT = 0.03,  d_prop = 0.40 m,  m_pax = 600 kg,  m_cargo = 200 kg,  m_instrument = 50 kg  — mission requirements, not optimized.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566928"/>
          </a:xfrm>
          <a:prstGeom prst="rect">
            <a:avLst/>
          </a:prstGeom>
          <a:solidFill>
            <a:srgbClr val="F0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0"/>
            <a:ext cx="7863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Calibri Light"/>
              </a:rPr>
              <a:t>Objective Functions &amp; Hard 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0"/>
            <a:ext cx="777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0C4E8"/>
                </a:solidFill>
                <a:latin typeface="Calibr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4864608"/>
            <a:ext cx="8503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7A8BAA"/>
                </a:solidFill>
                <a:latin typeface="Calibri"/>
              </a:rPr>
              <a:t>Multidisciplinary Design Optimization of Aerospace Systems  ·  FrameworkCpp  ·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65836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D1B3E"/>
                </a:solidFill>
                <a:latin typeface="Calibri"/>
              </a:rPr>
              <a:t>Objectives  (weighted-sum SOO / Pareto MOO)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" y="1024128"/>
            <a:ext cx="4114800" cy="457200"/>
          </a:xfrm>
          <a:prstGeom prst="rect">
            <a:avLst/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" y="1024128"/>
            <a:ext cx="64008" cy="457200"/>
          </a:xfrm>
          <a:prstGeom prst="rect">
            <a:avLst/>
          </a:prstGeom>
          <a:solidFill>
            <a:srgbClr val="0B8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060704"/>
            <a:ext cx="2103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1B3E"/>
                </a:solidFill>
                <a:latin typeface="Consolas"/>
              </a:rPr>
              <a:t>mass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1088136"/>
            <a:ext cx="841248" cy="274320"/>
          </a:xfrm>
          <a:prstGeom prst="rect">
            <a:avLst/>
          </a:prstGeom>
          <a:solidFill>
            <a:srgbClr val="F0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1088136"/>
            <a:ext cx="84124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w = 0.20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271016"/>
            <a:ext cx="3931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4A5A78"/>
                </a:solidFill>
                <a:latin typeface="Calibri"/>
              </a:rPr>
              <a:t>total vehicle mass (normalized)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" y="1559052"/>
            <a:ext cx="4114800" cy="457200"/>
          </a:xfrm>
          <a:prstGeom prst="rect">
            <a:avLst/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" y="1559052"/>
            <a:ext cx="64008" cy="457200"/>
          </a:xfrm>
          <a:prstGeom prst="rect">
            <a:avLst/>
          </a:prstGeom>
          <a:solidFill>
            <a:srgbClr val="0B8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595628"/>
            <a:ext cx="2103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1B3E"/>
                </a:solidFill>
                <a:latin typeface="Consolas"/>
              </a:rPr>
              <a:t>power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1623060"/>
            <a:ext cx="841248" cy="274320"/>
          </a:xfrm>
          <a:prstGeom prst="rect">
            <a:avLst/>
          </a:prstGeom>
          <a:solidFill>
            <a:srgbClr val="F0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0" y="1623060"/>
            <a:ext cx="84124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w = 0.20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805940"/>
            <a:ext cx="3931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4A5A78"/>
                </a:solidFill>
                <a:latin typeface="Calibri"/>
              </a:rPr>
              <a:t>hover power proxy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" y="2093976"/>
            <a:ext cx="4114800" cy="457200"/>
          </a:xfrm>
          <a:prstGeom prst="rect">
            <a:avLst/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9184" y="2093976"/>
            <a:ext cx="64008" cy="457200"/>
          </a:xfrm>
          <a:prstGeom prst="rect">
            <a:avLst/>
          </a:prstGeom>
          <a:solidFill>
            <a:srgbClr val="0B8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130552"/>
            <a:ext cx="2103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1B3E"/>
                </a:solidFill>
                <a:latin typeface="Consolas"/>
              </a:rPr>
              <a:t>fault_thrust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51760" y="2157984"/>
            <a:ext cx="841248" cy="274320"/>
          </a:xfrm>
          <a:prstGeom prst="rect">
            <a:avLst/>
          </a:prstGeom>
          <a:solidFill>
            <a:srgbClr val="F0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51760" y="2157984"/>
            <a:ext cx="84124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w = 0.25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2340864"/>
            <a:ext cx="3931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4A5A78"/>
                </a:solidFill>
                <a:latin typeface="Calibri"/>
              </a:rPr>
              <a:t>single-motor-fault thrust-margin penalty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" y="2628900"/>
            <a:ext cx="4114800" cy="457200"/>
          </a:xfrm>
          <a:prstGeom prst="rect">
            <a:avLst/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9184" y="2628900"/>
            <a:ext cx="64008" cy="457200"/>
          </a:xfrm>
          <a:prstGeom prst="rect">
            <a:avLst/>
          </a:prstGeom>
          <a:solidFill>
            <a:srgbClr val="0B8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2665476"/>
            <a:ext cx="2103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1B3E"/>
                </a:solidFill>
                <a:latin typeface="Consolas"/>
              </a:rPr>
              <a:t>fault_alloc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51760" y="2692908"/>
            <a:ext cx="841248" cy="274320"/>
          </a:xfrm>
          <a:prstGeom prst="rect">
            <a:avLst/>
          </a:prstGeom>
          <a:solidFill>
            <a:srgbClr val="F0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51760" y="2692908"/>
            <a:ext cx="84124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w = 0.25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2875788"/>
            <a:ext cx="3931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4A5A78"/>
                </a:solidFill>
                <a:latin typeface="Calibri"/>
              </a:rPr>
              <a:t>control-allocation degradation ratio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84" y="3163824"/>
            <a:ext cx="4114800" cy="457200"/>
          </a:xfrm>
          <a:prstGeom prst="rect">
            <a:avLst/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9184" y="3163824"/>
            <a:ext cx="64008" cy="457200"/>
          </a:xfrm>
          <a:prstGeom prst="rect">
            <a:avLst/>
          </a:prstGeom>
          <a:solidFill>
            <a:srgbClr val="0B8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200400"/>
            <a:ext cx="2103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1B3E"/>
                </a:solidFill>
                <a:latin typeface="Consolas"/>
              </a:rPr>
              <a:t>hover_nom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51760" y="3227832"/>
            <a:ext cx="841248" cy="274320"/>
          </a:xfrm>
          <a:prstGeom prst="rect">
            <a:avLst/>
          </a:prstGeom>
          <a:solidFill>
            <a:srgbClr val="F0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51760" y="3227832"/>
            <a:ext cx="84124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w = 0.10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3410712"/>
            <a:ext cx="3931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4A5A78"/>
                </a:solidFill>
                <a:latin typeface="Calibri"/>
              </a:rPr>
              <a:t>nominal hover thrust utilization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9184" y="3698748"/>
            <a:ext cx="4114800" cy="457200"/>
          </a:xfrm>
          <a:prstGeom prst="rect">
            <a:avLst/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9184" y="3698748"/>
            <a:ext cx="64008" cy="457200"/>
          </a:xfrm>
          <a:prstGeom prst="rect">
            <a:avLst/>
          </a:prstGeom>
          <a:solidFill>
            <a:srgbClr val="0B8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3735324"/>
            <a:ext cx="2103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1B3E"/>
                </a:solidFill>
                <a:latin typeface="Consolas"/>
              </a:rPr>
              <a:t>cabin_space_penalty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51760" y="3762756"/>
            <a:ext cx="841248" cy="274320"/>
          </a:xfrm>
          <a:prstGeom prst="rect">
            <a:avLst/>
          </a:prstGeom>
          <a:solidFill>
            <a:srgbClr val="F0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51760" y="3762756"/>
            <a:ext cx="84124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w = 0.10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3945635"/>
            <a:ext cx="3931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4A5A78"/>
                </a:solidFill>
                <a:latin typeface="Calibri"/>
              </a:rPr>
              <a:t>cabin packing / space penalty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9184" y="4233672"/>
            <a:ext cx="4114800" cy="457200"/>
          </a:xfrm>
          <a:prstGeom prst="rect">
            <a:avLst/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9184" y="4233672"/>
            <a:ext cx="64008" cy="457200"/>
          </a:xfrm>
          <a:prstGeom prst="rect">
            <a:avLst/>
          </a:prstGeom>
          <a:solidFill>
            <a:srgbClr val="0B8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4270248"/>
            <a:ext cx="2103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1B3E"/>
                </a:solidFill>
                <a:latin typeface="Consolas"/>
              </a:rPr>
              <a:t>acs_margin_penalty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51760" y="4297680"/>
            <a:ext cx="841248" cy="274320"/>
          </a:xfrm>
          <a:prstGeom prst="rect">
            <a:avLst/>
          </a:prstGeom>
          <a:solidFill>
            <a:srgbClr val="F0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51760" y="4297680"/>
            <a:ext cx="84124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w = 0.10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4480560"/>
            <a:ext cx="3931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4A5A78"/>
                </a:solidFill>
                <a:latin typeface="Calibri"/>
              </a:rPr>
              <a:t>ACS directional-margin penalty (≥0 healthy)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9184" y="4425696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7A8BAA"/>
                </a:solidFill>
                <a:latin typeface="Calibri"/>
              </a:rPr>
              <a:t>structural · packaging · structural_safety carry weight 0 → analysis-only metrics.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17720" y="65836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D1B3E"/>
                </a:solidFill>
                <a:latin typeface="Calibri"/>
              </a:rPr>
              <a:t>Hard Constraints  (large penalty on violation)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17720" y="1024128"/>
            <a:ext cx="566928" cy="214884"/>
          </a:xfrm>
          <a:prstGeom prst="rect">
            <a:avLst/>
          </a:prstGeom>
          <a:solidFill>
            <a:srgbClr val="0B8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17720" y="1024128"/>
            <a:ext cx="566928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GEO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85232" y="1019556"/>
            <a:ext cx="35661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02A44"/>
                </a:solidFill>
                <a:latin typeface="Consolas"/>
              </a:rPr>
              <a:t>parameter_bounds  ≤ 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617720" y="1254556"/>
            <a:ext cx="566928" cy="214884"/>
          </a:xfrm>
          <a:prstGeom prst="rect">
            <a:avLst/>
          </a:prstGeom>
          <a:solidFill>
            <a:srgbClr val="0B8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17720" y="1254556"/>
            <a:ext cx="566928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GEO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85232" y="1249984"/>
            <a:ext cx="35661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02A44"/>
                </a:solidFill>
                <a:latin typeface="Consolas"/>
              </a:rPr>
              <a:t>minimum_geometry_margin  ≥ 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17720" y="1484985"/>
            <a:ext cx="566928" cy="214884"/>
          </a:xfrm>
          <a:prstGeom prst="rect">
            <a:avLst/>
          </a:prstGeom>
          <a:solidFill>
            <a:srgbClr val="0B8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17720" y="1484985"/>
            <a:ext cx="566928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GEO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85232" y="1480413"/>
            <a:ext cx="35661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02A44"/>
                </a:solidFill>
                <a:latin typeface="Consolas"/>
              </a:rPr>
              <a:t>rotor_clearance  ≥ 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617720" y="1715414"/>
            <a:ext cx="566928" cy="214884"/>
          </a:xfrm>
          <a:prstGeom prst="rect">
            <a:avLst/>
          </a:prstGeom>
          <a:solidFill>
            <a:srgbClr val="145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617720" y="1715414"/>
            <a:ext cx="566928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PACK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85232" y="1710842"/>
            <a:ext cx="35661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02A44"/>
                </a:solidFill>
                <a:latin typeface="Consolas"/>
              </a:rPr>
              <a:t>payload / battery / occupant in cabin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617720" y="1945843"/>
            <a:ext cx="566928" cy="214884"/>
          </a:xfrm>
          <a:prstGeom prst="rect">
            <a:avLst/>
          </a:prstGeom>
          <a:solidFill>
            <a:srgbClr val="145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617720" y="1945843"/>
            <a:ext cx="566928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PACK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285232" y="1941271"/>
            <a:ext cx="35661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02A44"/>
                </a:solidFill>
                <a:latin typeface="Consolas"/>
              </a:rPr>
              <a:t>battery-payload &amp; component non-overlap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617720" y="2176272"/>
            <a:ext cx="566928" cy="214884"/>
          </a:xfrm>
          <a:prstGeom prst="rect">
            <a:avLst/>
          </a:prstGeom>
          <a:solidFill>
            <a:srgbClr val="1A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617720" y="2176272"/>
            <a:ext cx="566928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CG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285232" y="2171700"/>
            <a:ext cx="35661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02A44"/>
                </a:solidFill>
                <a:latin typeface="Consolas"/>
              </a:rPr>
              <a:t>cg_envelope  |x|≤0.40, |y|≤0.25 m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17720" y="2406700"/>
            <a:ext cx="566928" cy="214884"/>
          </a:xfrm>
          <a:prstGeom prst="rect">
            <a:avLst/>
          </a:prstGeom>
          <a:solidFill>
            <a:srgbClr val="F0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617720" y="2406700"/>
            <a:ext cx="566928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ACS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85232" y="2402128"/>
            <a:ext cx="35661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02A44"/>
                </a:solidFill>
                <a:latin typeface="Consolas"/>
              </a:rPr>
              <a:t>failed_hover_gamma  ≥ 1.5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617720" y="2637129"/>
            <a:ext cx="566928" cy="214884"/>
          </a:xfrm>
          <a:prstGeom prst="rect">
            <a:avLst/>
          </a:prstGeom>
          <a:solidFill>
            <a:srgbClr val="F0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617720" y="2637129"/>
            <a:ext cx="566928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ACS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285232" y="2632557"/>
            <a:ext cx="35661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02A44"/>
                </a:solidFill>
                <a:latin typeface="Consolas"/>
              </a:rPr>
              <a:t>fault_allocation_ratio  ≥ 0.05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17720" y="2867558"/>
            <a:ext cx="566928" cy="214884"/>
          </a:xfrm>
          <a:prstGeom prst="rect">
            <a:avLst/>
          </a:prstGeom>
          <a:solidFill>
            <a:srgbClr val="F0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617720" y="2867558"/>
            <a:ext cx="566928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ACS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285232" y="2862986"/>
            <a:ext cx="35661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02A44"/>
                </a:solidFill>
                <a:latin typeface="Consolas"/>
              </a:rPr>
              <a:t>all_faults_hover_feasible  ≥ 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617720" y="3097987"/>
            <a:ext cx="566928" cy="214884"/>
          </a:xfrm>
          <a:prstGeom prst="rect">
            <a:avLst/>
          </a:prstGeom>
          <a:solidFill>
            <a:srgbClr val="F0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617720" y="3097987"/>
            <a:ext cx="566928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ACS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285232" y="3093415"/>
            <a:ext cx="35661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02A44"/>
                </a:solidFill>
                <a:latin typeface="Consolas"/>
              </a:rPr>
              <a:t>fault_directional_margin  ≥ 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617720" y="3328415"/>
            <a:ext cx="566928" cy="214884"/>
          </a:xfrm>
          <a:prstGeom prst="rect">
            <a:avLst/>
          </a:prstGeom>
          <a:solidFill>
            <a:srgbClr val="3F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617720" y="3328415"/>
            <a:ext cx="566928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STR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285232" y="3323843"/>
            <a:ext cx="35661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02A44"/>
                </a:solidFill>
                <a:latin typeface="Consolas"/>
              </a:rPr>
              <a:t>arm_yield_failure  ≥ 1.5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617720" y="3558844"/>
            <a:ext cx="566928" cy="214884"/>
          </a:xfrm>
          <a:prstGeom prst="rect">
            <a:avLst/>
          </a:prstGeom>
          <a:solidFill>
            <a:srgbClr val="3F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617720" y="3558844"/>
            <a:ext cx="566928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STR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285232" y="3554272"/>
            <a:ext cx="35661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02A44"/>
                </a:solidFill>
                <a:latin typeface="Consolas"/>
              </a:rPr>
              <a:t>arm_tip_deflection  ≤ 0.10 m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17720" y="3789273"/>
            <a:ext cx="566928" cy="214884"/>
          </a:xfrm>
          <a:prstGeom prst="rect">
            <a:avLst/>
          </a:prstGeom>
          <a:solidFill>
            <a:srgbClr val="3F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617720" y="3789273"/>
            <a:ext cx="566928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STR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285232" y="3784701"/>
            <a:ext cx="35661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02A44"/>
                </a:solidFill>
                <a:latin typeface="Consolas"/>
              </a:rPr>
              <a:t>arm_tip_rotation  ≤ 0.10 rad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617720" y="4019702"/>
            <a:ext cx="566928" cy="214884"/>
          </a:xfrm>
          <a:prstGeom prst="rect">
            <a:avLst/>
          </a:prstGeom>
          <a:solidFill>
            <a:srgbClr val="145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617720" y="4019702"/>
            <a:ext cx="566928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BAT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285232" y="4015130"/>
            <a:ext cx="35661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02A44"/>
                </a:solidFill>
                <a:latin typeface="Consolas"/>
              </a:rPr>
              <a:t>battery_energy_reserve  ≥ 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17720" y="4250131"/>
            <a:ext cx="566928" cy="214884"/>
          </a:xfrm>
          <a:prstGeom prst="rect">
            <a:avLst/>
          </a:prstGeom>
          <a:solidFill>
            <a:srgbClr val="145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617720" y="4250131"/>
            <a:ext cx="566928" cy="214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BAT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285232" y="4245559"/>
            <a:ext cx="35661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02A44"/>
                </a:solidFill>
                <a:latin typeface="Consolas"/>
              </a:rPr>
              <a:t>battery_crate_limit  ≤ 5 /h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617720" y="449884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4A5A78"/>
                </a:solidFill>
                <a:latin typeface="Calibri"/>
              </a:rPr>
              <a:t>18 architecture-level hard constraints total </a:t>
            </a:r>
            <a:r>
              <a:rPr sz="850" b="0">
                <a:solidFill>
                  <a:srgbClr val="7A8BAA"/>
                </a:solidFill>
                <a:latin typeface="Calibri"/>
              </a:rPr>
              <a:t>(packaging row groups 5 sub-checks).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566928"/>
          </a:xfrm>
          <a:prstGeom prst="rect">
            <a:avLst/>
          </a:prstGeom>
          <a:solidFill>
            <a:srgbClr val="F0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0"/>
            <a:ext cx="7863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Calibri Light"/>
              </a:rPr>
              <a:t>Multidisciplinary Evaluation Pipeline (Stage1Evaluator)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0"/>
            <a:ext cx="777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0C4E8"/>
                </a:solidFill>
                <a:latin typeface="Calibr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4864608"/>
            <a:ext cx="8503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7A8BAA"/>
                </a:solidFill>
                <a:latin typeface="Calibri"/>
              </a:rPr>
              <a:t>Multidisciplinary Design Optimization of Aerospace Systems  ·  FrameworkCpp  ·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" y="777240"/>
            <a:ext cx="2596896" cy="1371600"/>
          </a:xfrm>
          <a:prstGeom prst="rect">
            <a:avLst/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9184" y="777240"/>
            <a:ext cx="64008" cy="1371600"/>
          </a:xfrm>
          <a:prstGeom prst="rect">
            <a:avLst/>
          </a:prstGeom>
          <a:solidFill>
            <a:srgbClr val="0B8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" y="886968"/>
            <a:ext cx="713232" cy="274320"/>
          </a:xfrm>
          <a:prstGeom prst="rect">
            <a:avLst/>
          </a:prstGeom>
          <a:solidFill>
            <a:srgbClr val="0B8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886968"/>
            <a:ext cx="7132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Step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886968"/>
            <a:ext cx="1554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D1B3E"/>
                </a:solidFill>
                <a:latin typeface="Calibri"/>
              </a:rPr>
              <a:t>Vehicle Scaling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" y="1289304"/>
            <a:ext cx="2377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4A5A78"/>
                </a:solidFill>
                <a:latin typeface="Calibri"/>
              </a:rPr>
              <a:t>Mass · CG · inertia · thrust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4A5A78"/>
                </a:solidFill>
                <a:latin typeface="Calibri"/>
              </a:rPr>
              <a:t>battery-mass feedback included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73552" y="777240"/>
            <a:ext cx="2596896" cy="1371600"/>
          </a:xfrm>
          <a:prstGeom prst="rect">
            <a:avLst/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73552" y="777240"/>
            <a:ext cx="64008" cy="1371600"/>
          </a:xfrm>
          <a:prstGeom prst="rect">
            <a:avLst/>
          </a:prstGeom>
          <a:solidFill>
            <a:srgbClr val="F0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19856" y="886968"/>
            <a:ext cx="713232" cy="274320"/>
          </a:xfrm>
          <a:prstGeom prst="rect">
            <a:avLst/>
          </a:prstGeom>
          <a:solidFill>
            <a:srgbClr val="F0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9856" y="886968"/>
            <a:ext cx="7132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Step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886968"/>
            <a:ext cx="1554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D1B3E"/>
                </a:solidFill>
                <a:latin typeface="Calibri"/>
              </a:rPr>
              <a:t>ACS Analyzer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38144" y="1289304"/>
            <a:ext cx="2377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4A5A78"/>
                </a:solidFill>
                <a:latin typeface="Calibri"/>
              </a:rPr>
              <a:t>Nominal + 6 fault hover trims (LP)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4A5A78"/>
                </a:solidFill>
                <a:latin typeface="Calibri"/>
              </a:rPr>
              <a:t>margins · retention · feasibility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777240"/>
            <a:ext cx="2596896" cy="1371600"/>
          </a:xfrm>
          <a:prstGeom prst="rect">
            <a:avLst/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777240"/>
            <a:ext cx="64008" cy="1371600"/>
          </a:xfrm>
          <a:prstGeom prst="rect">
            <a:avLst/>
          </a:prstGeom>
          <a:solidFill>
            <a:srgbClr val="3F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64224" y="886968"/>
            <a:ext cx="713232" cy="274320"/>
          </a:xfrm>
          <a:prstGeom prst="rect">
            <a:avLst/>
          </a:prstGeom>
          <a:solidFill>
            <a:srgbClr val="3F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886968"/>
            <a:ext cx="7132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Step 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0608" y="886968"/>
            <a:ext cx="1554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D1B3E"/>
                </a:solidFill>
                <a:latin typeface="Calibri"/>
              </a:rPr>
              <a:t>Structural Network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1289304"/>
            <a:ext cx="2377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4A5A78"/>
                </a:solidFill>
                <a:latin typeface="Calibri"/>
              </a:rPr>
              <a:t>Multi-member network, 8 load cases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4A5A78"/>
                </a:solidFill>
                <a:latin typeface="Calibri"/>
              </a:rPr>
              <a:t>von Mises SF · tip deflection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" y="2331720"/>
            <a:ext cx="2596896" cy="1371600"/>
          </a:xfrm>
          <a:prstGeom prst="rect">
            <a:avLst/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9184" y="2331720"/>
            <a:ext cx="64008" cy="1371600"/>
          </a:xfrm>
          <a:prstGeom prst="rect">
            <a:avLst/>
          </a:prstGeom>
          <a:solidFill>
            <a:srgbClr val="145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5488" y="2441448"/>
            <a:ext cx="713232" cy="274320"/>
          </a:xfrm>
          <a:prstGeom prst="rect">
            <a:avLst/>
          </a:prstGeom>
          <a:solidFill>
            <a:srgbClr val="145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" y="2441448"/>
            <a:ext cx="7132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Step 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61872" y="2441448"/>
            <a:ext cx="1554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D1B3E"/>
                </a:solidFill>
                <a:latin typeface="Calibri"/>
              </a:rPr>
              <a:t>Powertrain Evaluator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" y="2843784"/>
            <a:ext cx="2377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4A5A78"/>
                </a:solidFill>
                <a:latin typeface="Calibri"/>
              </a:rPr>
              <a:t>Actuator-disk power model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4A5A78"/>
                </a:solidFill>
                <a:latin typeface="Calibri"/>
              </a:rPr>
              <a:t>per-motor electrical power [W]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73552" y="2331720"/>
            <a:ext cx="2596896" cy="1371600"/>
          </a:xfrm>
          <a:prstGeom prst="rect">
            <a:avLst/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73552" y="2331720"/>
            <a:ext cx="64008" cy="1371600"/>
          </a:xfrm>
          <a:prstGeom prst="rect">
            <a:avLst/>
          </a:prstGeom>
          <a:solidFill>
            <a:srgbClr val="1A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19856" y="2441448"/>
            <a:ext cx="713232" cy="274320"/>
          </a:xfrm>
          <a:prstGeom prst="rect">
            <a:avLst/>
          </a:prstGeom>
          <a:solidFill>
            <a:srgbClr val="1A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19856" y="2441448"/>
            <a:ext cx="7132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Step 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0" y="2441448"/>
            <a:ext cx="1554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D1B3E"/>
                </a:solidFill>
                <a:latin typeface="Calibri"/>
              </a:rPr>
              <a:t>Battery Evaluator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38144" y="2843784"/>
            <a:ext cx="2377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4A5A78"/>
                </a:solidFill>
                <a:latin typeface="Calibri"/>
              </a:rPr>
              <a:t>Energy budget · reserve fraction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4A5A78"/>
                </a:solidFill>
                <a:latin typeface="Calibri"/>
              </a:rPr>
              <a:t>C-rate (mission-aware)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2331720"/>
            <a:ext cx="2596896" cy="1371600"/>
          </a:xfrm>
          <a:prstGeom prst="rect">
            <a:avLst/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17920" y="2331720"/>
            <a:ext cx="64008" cy="1371600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64224" y="2441448"/>
            <a:ext cx="713232" cy="274320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64224" y="2441448"/>
            <a:ext cx="7132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Step 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50608" y="2441448"/>
            <a:ext cx="1554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D1B3E"/>
                </a:solidFill>
                <a:latin typeface="Calibri"/>
              </a:rPr>
              <a:t>Constraints + Objective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82512" y="2843784"/>
            <a:ext cx="2377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4A5A78"/>
                </a:solidFill>
                <a:latin typeface="Calibri"/>
              </a:rPr>
              <a:t>18 hard-constraint checks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4A5A78"/>
                </a:solidFill>
                <a:latin typeface="Calibri"/>
              </a:rPr>
              <a:t>weighted-sum aggregation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9184" y="3822191"/>
            <a:ext cx="8503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07C26"/>
                </a:solidFill>
                <a:latin typeface="Calibri"/>
              </a:rPr>
              <a:t>Call order matters: </a:t>
            </a:r>
            <a:r>
              <a:rPr sz="950" b="0">
                <a:solidFill>
                  <a:srgbClr val="4A5A78"/>
                </a:solidFill>
                <a:latin typeface="Calibri"/>
              </a:rPr>
              <a:t>ACS runs before structural (fault trims become load cases); packaging runs after structural.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4206240"/>
            <a:ext cx="7863840" cy="420624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206240"/>
            <a:ext cx="78638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▶  EvaluationResult  =  PhysicalModel + AcsResult + PowertrainResult + BatteryResult + constraint_results + combined_objective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566928"/>
          </a:xfrm>
          <a:prstGeom prst="rect">
            <a:avLst/>
          </a:prstGeom>
          <a:solidFill>
            <a:srgbClr val="F0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0"/>
            <a:ext cx="7863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Calibri Light"/>
              </a:rPr>
              <a:t>Phase 1 — Structural Analysis &amp; ACS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0"/>
            <a:ext cx="777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0C4E8"/>
                </a:solidFill>
                <a:latin typeface="Calibr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4864608"/>
            <a:ext cx="8503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7A8BAA"/>
                </a:solidFill>
                <a:latin typeface="Calibri"/>
              </a:rPr>
              <a:t>Multidisciplinary Design Optimization of Aerospace Systems  ·  FrameworkCpp  ·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" y="713232"/>
            <a:ext cx="4114800" cy="1920240"/>
          </a:xfrm>
          <a:prstGeom prst="rect">
            <a:avLst/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9184" y="713232"/>
            <a:ext cx="64008" cy="1920240"/>
          </a:xfrm>
          <a:prstGeom prst="rect">
            <a:avLst/>
          </a:prstGeom>
          <a:solidFill>
            <a:srgbClr val="3F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" y="786384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D1B3E"/>
                </a:solidFill>
                <a:latin typeface="Calibri"/>
              </a:rPr>
              <a:t>Structural Network Analyzer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1115568"/>
            <a:ext cx="3886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4A5A78"/>
                </a:solidFill>
                <a:latin typeface="Calibri"/>
              </a:rPr>
              <a:t>▸ Hollow circular tube cross-section per arm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4A5A78"/>
                </a:solidFill>
                <a:latin typeface="Calibri"/>
              </a:rPr>
              <a:t>▸ Outer radius r₀, wall t  →  second moment I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4A5A78"/>
                </a:solidFill>
                <a:latin typeface="Calibri"/>
              </a:rPr>
              <a:t>▸ Max bending load = motor thrust × arm length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4A5A78"/>
                </a:solidFill>
                <a:latin typeface="Calibri"/>
              </a:rPr>
              <a:t>▸ 8 load cases: max-thrust, hover, fault_0–5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4A5A78"/>
                </a:solidFill>
                <a:latin typeface="Calibri"/>
              </a:rPr>
              <a:t>▸ Safety factor SF = σ_yield / σ_bending ≥ 1.5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4A5A78"/>
                </a:solidFill>
                <a:latin typeface="Calibri"/>
              </a:rPr>
              <a:t>▸ Euler–Bernoulli tip deflection &amp; rotation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713232"/>
            <a:ext cx="4242816" cy="1920240"/>
          </a:xfrm>
          <a:prstGeom prst="rect">
            <a:avLst/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713232"/>
            <a:ext cx="64008" cy="1920240"/>
          </a:xfrm>
          <a:prstGeom prst="rect">
            <a:avLst/>
          </a:prstGeom>
          <a:solidFill>
            <a:srgbClr val="F0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6592" y="786384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D1B3E"/>
                </a:solidFill>
                <a:latin typeface="Calibri"/>
              </a:rPr>
              <a:t>Attainable Control Set Analyzer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1115568"/>
            <a:ext cx="397763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4A5A78"/>
                </a:solidFill>
                <a:latin typeface="Calibri"/>
              </a:rPr>
              <a:t>▸ Allocation matrix B ∈ ℝ⁴ˣ⁶ (thrust·roll·pitch·yaw)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4A5A78"/>
                </a:solidFill>
                <a:latin typeface="Calibri"/>
              </a:rPr>
              <a:t>▸ LP hover trim: nominal + 6 single-motor faults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4A5A78"/>
                </a:solidFill>
                <a:latin typeface="Calibri"/>
              </a:rPr>
              <a:t>▸ Directional margin  m(d) = h_U(d) − dᵀ·u_req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4A5A78"/>
                </a:solidFill>
                <a:latin typeface="Calibri"/>
              </a:rPr>
              <a:t>▸ PFWAR — probability-weighted ACS retention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4A5A78"/>
                </a:solidFill>
                <a:latin typeface="Calibri"/>
              </a:rPr>
              <a:t>▸ WCFR — worst-case fault retention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4A5A78"/>
                </a:solidFill>
                <a:latin typeface="Calibri"/>
              </a:rPr>
              <a:t>▸ FII — fault isotropy index (FII &lt; 1 is ideal)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" y="2761488"/>
            <a:ext cx="8485632" cy="713232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184" y="2761488"/>
            <a:ext cx="91440" cy="713232"/>
          </a:xfrm>
          <a:prstGeom prst="rect">
            <a:avLst/>
          </a:prstGeom>
          <a:solidFill>
            <a:srgbClr val="0B8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8163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C4E8"/>
                </a:solidFill>
                <a:latin typeface="Calibri"/>
              </a:rPr>
              <a:t>ACS correctness invariant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108960"/>
            <a:ext cx="8229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Consolas"/>
              </a:rPr>
              <a:t>margin(d, u) = h_U(d) − dᵀ·u  ≥ 0  feasible      h_U(d) = Σⱼ max(0, dᵀ·bⱼ)·f_maxⱼ      </a:t>
            </a:r>
            <a:r>
              <a:rPr sz="950" b="0">
                <a:solidFill>
                  <a:srgbClr val="7A8BAA"/>
                </a:solidFill>
                <a:latin typeface="Calibri"/>
              </a:rPr>
              <a:t>(never use the sign-flipped form).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" y="3621024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D1B3E"/>
                </a:solidFill>
                <a:latin typeface="Calibri"/>
              </a:rPr>
              <a:t>ACS output files  (--plot-acs)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" y="3895344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B8FD4"/>
                </a:solidFill>
                <a:latin typeface="Consolas"/>
              </a:rPr>
              <a:t>acs_fig5_hover_poly.svg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3744" y="3895344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4A5A78"/>
                </a:solidFill>
                <a:latin typeface="Calibri"/>
              </a:rPr>
              <a:t>— hover moment polygon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6864" y="3895344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B8FD4"/>
                </a:solidFill>
                <a:latin typeface="Consolas"/>
              </a:rPr>
              <a:t>acs_fig6_margins.svg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21424" y="3895344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4A5A78"/>
                </a:solidFill>
                <a:latin typeface="Calibri"/>
              </a:rPr>
              <a:t>— per-direction margin bars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" y="420624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B8FD4"/>
                </a:solidFill>
                <a:latin typeface="Consolas"/>
              </a:rPr>
              <a:t>acs_retention.svg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23744" y="4206240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4A5A78"/>
                </a:solidFill>
                <a:latin typeface="Calibri"/>
              </a:rPr>
              <a:t>— per-motor ACS retention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26864" y="420624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B8FD4"/>
                </a:solidFill>
                <a:latin typeface="Consolas"/>
              </a:rPr>
              <a:t>acs_vertices.csv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1424" y="4206240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4A5A78"/>
                </a:solidFill>
                <a:latin typeface="Calibri"/>
              </a:rPr>
              <a:t>— 4D vertex cloud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566928"/>
          </a:xfrm>
          <a:prstGeom prst="rect">
            <a:avLst/>
          </a:prstGeom>
          <a:solidFill>
            <a:srgbClr val="F0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0"/>
            <a:ext cx="7863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Calibri Light"/>
              </a:rPr>
              <a:t>Phase 2 — Powertrain &amp; Battery Energy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0"/>
            <a:ext cx="777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0C4E8"/>
                </a:solidFill>
                <a:latin typeface="Calibr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4864608"/>
            <a:ext cx="8503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7A8BAA"/>
                </a:solidFill>
                <a:latin typeface="Calibri"/>
              </a:rPr>
              <a:t>Multidisciplinary Design Optimization of Aerospace Systems  ·  FrameworkCpp  ·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" y="713232"/>
            <a:ext cx="4114800" cy="2788920"/>
          </a:xfrm>
          <a:prstGeom prst="rect">
            <a:avLst/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9184" y="713232"/>
            <a:ext cx="64008" cy="2788920"/>
          </a:xfrm>
          <a:prstGeom prst="rect">
            <a:avLst/>
          </a:prstGeom>
          <a:solidFill>
            <a:srgbClr val="145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" y="786384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D1B3E"/>
                </a:solidFill>
                <a:latin typeface="Calibri"/>
              </a:rPr>
              <a:t>Powertrain  (PowertrainEvaluator)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1133856"/>
            <a:ext cx="3840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4A5A78"/>
                </a:solidFill>
                <a:latin typeface="Calibri"/>
              </a:rPr>
              <a:t>Effective disk radius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" y="1316736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1B3E"/>
                </a:solidFill>
                <a:latin typeface="Consolas"/>
              </a:rPr>
              <a:t>r_eff = max_arm_length /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" y="1645920"/>
            <a:ext cx="3840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4A5A78"/>
                </a:solidFill>
                <a:latin typeface="Calibri"/>
              </a:rPr>
              <a:t>Electrical power (rotor 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" y="1828800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1B3E"/>
                </a:solidFill>
                <a:latin typeface="Consolas"/>
              </a:rPr>
              <a:t>Pᵢ = Tᵢ^1.5 / (η_tot · √(2ρ·A_eff))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" y="2157984"/>
            <a:ext cx="3840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4A5A78"/>
                </a:solidFill>
                <a:latin typeface="Calibri"/>
              </a:rPr>
              <a:t>Total nominal power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" y="2340864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1B3E"/>
                </a:solidFill>
                <a:latin typeface="Consolas"/>
              </a:rPr>
              <a:t>P_nom = Σ Pᵢ  (nominal hover trim)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" y="2670048"/>
            <a:ext cx="3840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4A5A78"/>
                </a:solidFill>
                <a:latin typeface="Calibri"/>
              </a:rPr>
              <a:t>Total fault power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" y="2852928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1B3E"/>
                </a:solidFill>
                <a:latin typeface="Consolas"/>
              </a:rPr>
              <a:t>P_fault = Σ Pᵢ  (worst fault trim)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" y="3200400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4A5A78"/>
                </a:solidFill>
                <a:latin typeface="Calibri"/>
              </a:rPr>
              <a:t>η_tot = FoM·η_motor·η_esc = 0.65·0.85·0.95.  d_prop drives yaw-torque scaling only.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713232"/>
            <a:ext cx="4242816" cy="2788920"/>
          </a:xfrm>
          <a:prstGeom prst="rect">
            <a:avLst/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0" y="713232"/>
            <a:ext cx="64008" cy="2788920"/>
          </a:xfrm>
          <a:prstGeom prst="rect">
            <a:avLst/>
          </a:prstGeom>
          <a:solidFill>
            <a:srgbClr val="F0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36592" y="786384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D1B3E"/>
                </a:solidFill>
                <a:latin typeface="Calibri"/>
              </a:rPr>
              <a:t>Battery  (BatteryEvaluator)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36592" y="1133856"/>
            <a:ext cx="3931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4A5A78"/>
                </a:solidFill>
                <a:latin typeface="Calibri"/>
              </a:rPr>
              <a:t>Available energy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6592" y="1316736"/>
            <a:ext cx="3931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1B3E"/>
                </a:solidFill>
                <a:latin typeface="Consolas"/>
              </a:rPr>
              <a:t>E_avail = η_pack · DoD · m_bat · e_spec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36592" y="1645920"/>
            <a:ext cx="3931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4A5A78"/>
                </a:solidFill>
                <a:latin typeface="Calibri"/>
              </a:rPr>
              <a:t>Mission energy demand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36592" y="1828800"/>
            <a:ext cx="3931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1B3E"/>
                </a:solidFill>
                <a:latin typeface="Consolas"/>
              </a:rPr>
              <a:t>E_req = P_nom·t_nom + P_fault·t_emg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36592" y="2157984"/>
            <a:ext cx="3931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4A5A78"/>
                </a:solidFill>
                <a:latin typeface="Calibri"/>
              </a:rPr>
              <a:t>Energy reserve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36592" y="2340864"/>
            <a:ext cx="3931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1B3E"/>
                </a:solidFill>
                <a:latin typeface="Consolas"/>
              </a:rPr>
              <a:t>reserve = (E_avail − E_req)/E_avail ≥ 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36592" y="2670048"/>
            <a:ext cx="3931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4A5A78"/>
                </a:solidFill>
                <a:latin typeface="Calibri"/>
              </a:rPr>
              <a:t>C-rate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36592" y="2852928"/>
            <a:ext cx="3931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1B3E"/>
                </a:solidFill>
                <a:latin typeface="Consolas"/>
              </a:rPr>
              <a:t>c_rate = P_peak / E_avail  ≤  5.0 /h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36592" y="3200400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4A5A78"/>
                </a:solidFill>
                <a:latin typeface="Calibri"/>
              </a:rPr>
              <a:t>e_spec = 250 Wh/kg (NMC811) · DoD = 0.85 · η_pack = 0.95 · t_nom = 30 min · t_emg = 1 min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" y="3657600"/>
            <a:ext cx="8485632" cy="960120"/>
          </a:xfrm>
          <a:prstGeom prst="rect">
            <a:avLst/>
          </a:prstGeom>
          <a:solidFill>
            <a:srgbClr val="D8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9184" y="3657600"/>
            <a:ext cx="91440" cy="960120"/>
          </a:xfrm>
          <a:prstGeom prst="rect">
            <a:avLst/>
          </a:prstGeom>
          <a:solidFill>
            <a:srgbClr val="0B8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064" y="373075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D1B3E"/>
                </a:solidFill>
                <a:latin typeface="Calibri"/>
              </a:rPr>
              <a:t>Battery-mass feedback loop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" y="40233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202A44"/>
                </a:solidFill>
                <a:latin typeface="Calibri"/>
              </a:rPr>
              <a:t>m_bat ↑  →  total mass ↑  →  hover thrust ↑  →  power ↑  →  energy demand ↑  →  battery constraints re-checked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" y="431596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4A5A78"/>
                </a:solidFill>
                <a:latin typeface="Calibri"/>
              </a:rPr>
              <a:t>Below the minimum viable battery mass the energy reserve goes negative — the optimizer finds the nonlinear balance point.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566928"/>
          </a:xfrm>
          <a:prstGeom prst="rect">
            <a:avLst/>
          </a:prstGeom>
          <a:solidFill>
            <a:srgbClr val="F0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0"/>
            <a:ext cx="7863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Calibri Light"/>
              </a:rPr>
              <a:t>Optimization — SOO / MOO and the Search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0"/>
            <a:ext cx="777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0C4E8"/>
                </a:solidFill>
                <a:latin typeface="Calibr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4864608"/>
            <a:ext cx="8503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7A8BAA"/>
                </a:solidFill>
                <a:latin typeface="Calibri"/>
              </a:rPr>
              <a:t>Multidisciplinary Design Optimization of Aerospace Systems  ·  FrameworkCpp  ·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" y="713232"/>
            <a:ext cx="4114800" cy="2743200"/>
          </a:xfrm>
          <a:prstGeom prst="rect">
            <a:avLst/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9184" y="713232"/>
            <a:ext cx="64008" cy="2743200"/>
          </a:xfrm>
          <a:prstGeom prst="rect">
            <a:avLst/>
          </a:prstGeom>
          <a:solidFill>
            <a:srgbClr val="0B8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" y="786384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D1B3E"/>
                </a:solidFill>
                <a:latin typeface="Calibri"/>
              </a:rPr>
              <a:t>SOO — Single-Objective (SooRunner)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1097280"/>
            <a:ext cx="1417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4A5A78"/>
                </a:solidFill>
                <a:latin typeface="Calibri"/>
              </a:rPr>
              <a:t>Algorithm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38528" y="1097280"/>
            <a:ext cx="2468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0D1B3E"/>
                </a:solidFill>
                <a:latin typeface="Calibri"/>
              </a:rPr>
              <a:t>CMA-ES (Pagmo2)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" y="1371600"/>
            <a:ext cx="1417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4A5A78"/>
                </a:solidFill>
                <a:latin typeface="Calibri"/>
              </a:rPr>
              <a:t>Population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38528" y="1371600"/>
            <a:ext cx="2468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0D1B3E"/>
                </a:solidFill>
                <a:latin typeface="Calibri"/>
              </a:rPr>
              <a:t>24 (default)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" y="1645920"/>
            <a:ext cx="1417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4A5A78"/>
                </a:solidFill>
                <a:latin typeface="Calibri"/>
              </a:rPr>
              <a:t>Generations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38528" y="1645920"/>
            <a:ext cx="2468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0D1B3E"/>
                </a:solidFill>
                <a:latin typeface="Calibri"/>
              </a:rPr>
              <a:t>40 (default)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" y="1920240"/>
            <a:ext cx="1417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4A5A78"/>
                </a:solidFill>
                <a:latin typeface="Calibri"/>
              </a:rPr>
              <a:t>Search space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38528" y="1920240"/>
            <a:ext cx="2468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0D1B3E"/>
                </a:solidFill>
                <a:latin typeface="Calibri"/>
              </a:rPr>
              <a:t>normalized [0,1]¹⁶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" y="2194560"/>
            <a:ext cx="1417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4A5A78"/>
                </a:solidFill>
                <a:latin typeface="Calibri"/>
              </a:rPr>
              <a:t>Feasibility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38528" y="2194560"/>
            <a:ext cx="2468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0D1B3E"/>
                </a:solidFill>
                <a:latin typeface="Calibri"/>
              </a:rPr>
              <a:t>all hard constraints + ACS LP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" y="2468879"/>
            <a:ext cx="1417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4A5A78"/>
                </a:solidFill>
                <a:latin typeface="Calibri"/>
              </a:rP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38528" y="2468879"/>
            <a:ext cx="2468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0D1B3E"/>
                </a:solidFill>
                <a:latin typeface="Calibri"/>
              </a:rPr>
              <a:t>baseline / best_raw / best_feasible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" y="2816352"/>
            <a:ext cx="3886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F07C26"/>
                </a:solidFill>
                <a:latin typeface="Calibri"/>
              </a:rPr>
              <a:t>Penalty strategy: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4A5A78"/>
                </a:solidFill>
                <a:latin typeface="Consolas"/>
              </a:rPr>
              <a:t>infeasible → 1e6 + Σ(weightᵢ·violationᵢ) + 1e4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4A5A78"/>
                </a:solidFill>
                <a:latin typeface="Consolas"/>
              </a:rPr>
              <a:t>feasible → combined_objective (weighted sum)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713232"/>
            <a:ext cx="4242816" cy="2743200"/>
          </a:xfrm>
          <a:prstGeom prst="rect">
            <a:avLst/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0" y="713232"/>
            <a:ext cx="64008" cy="2743200"/>
          </a:xfrm>
          <a:prstGeom prst="rect">
            <a:avLst/>
          </a:prstGeom>
          <a:solidFill>
            <a:srgbClr val="F0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36592" y="786384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D1B3E"/>
                </a:solidFill>
                <a:latin typeface="Calibri"/>
              </a:rPr>
              <a:t>MOO — Multi-Objective (MooRunner)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36592" y="1097280"/>
            <a:ext cx="1554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4A5A78"/>
                </a:solidFill>
                <a:latin typeface="Calibri"/>
              </a:rPr>
              <a:t>Algorithm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1097280"/>
            <a:ext cx="2468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0D1B3E"/>
                </a:solidFill>
                <a:latin typeface="Calibri"/>
              </a:rPr>
              <a:t>NSGA-II (Pagmo2)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36592" y="1371600"/>
            <a:ext cx="1554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4A5A78"/>
                </a:solidFill>
                <a:latin typeface="Calibri"/>
              </a:rPr>
              <a:t>Population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1371600"/>
            <a:ext cx="2468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0D1B3E"/>
                </a:solidFill>
                <a:latin typeface="Calibri"/>
              </a:rPr>
              <a:t>48 (default)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36592" y="1645920"/>
            <a:ext cx="1554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4A5A78"/>
                </a:solidFill>
                <a:latin typeface="Calibri"/>
              </a:rPr>
              <a:t>Generations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1645920"/>
            <a:ext cx="2468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0D1B3E"/>
                </a:solidFill>
                <a:latin typeface="Calibri"/>
              </a:rPr>
              <a:t>60 (default)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36592" y="1920240"/>
            <a:ext cx="1554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4A5A78"/>
                </a:solidFill>
                <a:latin typeface="Calibri"/>
              </a:rPr>
              <a:t>Objectives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1920240"/>
            <a:ext cx="2468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0D1B3E"/>
                </a:solidFill>
                <a:latin typeface="Calibri"/>
              </a:rPr>
              <a:t>mass, power, fault_alloc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36592" y="2194560"/>
            <a:ext cx="1554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4A5A78"/>
                </a:solidFill>
                <a:latin typeface="Calibri"/>
              </a:rPr>
              <a:t>Output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2194560"/>
            <a:ext cx="2468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0D1B3E"/>
                </a:solidFill>
                <a:latin typeface="Calibri"/>
              </a:rPr>
              <a:t>Pareto front (feasible subset)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36592" y="2468879"/>
            <a:ext cx="1554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4A5A78"/>
                </a:solidFill>
                <a:latin typeface="Calibri"/>
              </a:rPr>
              <a:t>Knee analysis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2468879"/>
            <a:ext cx="2468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0D1B3E"/>
                </a:solidFill>
                <a:latin typeface="Calibri"/>
              </a:rPr>
              <a:t>ParetoAnalyzer (knee point)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36592" y="2816352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1451A8"/>
                </a:solidFill>
                <a:latin typeface="Calibri"/>
              </a:rPr>
              <a:t>Trade-off surface (3 objectives):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4A5A78"/>
                </a:solidFill>
                <a:latin typeface="Calibri"/>
              </a:rPr>
              <a:t>min mass  ←→  min power  ←→  max fault tolerance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4A5A78"/>
                </a:solidFill>
                <a:latin typeface="Calibri"/>
              </a:rPr>
              <a:t>designer selects the operating point directly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9184" y="3703320"/>
            <a:ext cx="1335024" cy="457200"/>
          </a:xfrm>
          <a:prstGeom prst="rect">
            <a:avLst/>
          </a:prstGeom>
          <a:solidFill>
            <a:srgbClr val="EDF3FB"/>
          </a:solidFill>
          <a:ln w="12700">
            <a:solidFill>
              <a:srgbClr val="0D1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9184" y="3703320"/>
            <a:ext cx="13350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D1B3E"/>
                </a:solidFill>
                <a:latin typeface="Consolas"/>
              </a:rPr>
              <a:t>x̂ ∈ [0,1]¹⁶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45919" y="3703320"/>
            <a:ext cx="14630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07C26"/>
                </a:solidFill>
                <a:latin typeface="Calibri"/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773936" y="3703320"/>
            <a:ext cx="1335024" cy="457200"/>
          </a:xfrm>
          <a:prstGeom prst="rect">
            <a:avLst/>
          </a:prstGeom>
          <a:solidFill>
            <a:srgbClr val="EDF3FB"/>
          </a:solidFill>
          <a:ln w="12700">
            <a:solidFill>
              <a:srgbClr val="1451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773936" y="3703320"/>
            <a:ext cx="13350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D1B3E"/>
                </a:solidFill>
                <a:latin typeface="Consolas"/>
              </a:rPr>
              <a:t>DesignVectorMapper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90672" y="3703320"/>
            <a:ext cx="14630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07C26"/>
                </a:solidFill>
                <a:latin typeface="Calibri"/>
              </a:rPr>
              <a:t>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18688" y="3703320"/>
            <a:ext cx="1335024" cy="457200"/>
          </a:xfrm>
          <a:prstGeom prst="rect">
            <a:avLst/>
          </a:prstGeom>
          <a:solidFill>
            <a:srgbClr val="EDF3FB"/>
          </a:solidFill>
          <a:ln w="12700">
            <a:solidFill>
              <a:srgbClr val="1451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18688" y="3703320"/>
            <a:ext cx="13350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D1B3E"/>
                </a:solidFill>
                <a:latin typeface="Consolas"/>
              </a:rPr>
              <a:t>HexacopterArchitecture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35424" y="3703320"/>
            <a:ext cx="14630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07C26"/>
                </a:solidFill>
                <a:latin typeface="Calibri"/>
              </a:rPr>
              <a:t>→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63440" y="3703320"/>
            <a:ext cx="1335024" cy="457200"/>
          </a:xfrm>
          <a:prstGeom prst="rect">
            <a:avLst/>
          </a:prstGeom>
          <a:solidFill>
            <a:srgbClr val="EDF3FB"/>
          </a:solidFill>
          <a:ln w="12700">
            <a:solidFill>
              <a:srgbClr val="1451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63440" y="3703320"/>
            <a:ext cx="13350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D1B3E"/>
                </a:solidFill>
                <a:latin typeface="Consolas"/>
              </a:rPr>
              <a:t>Stage1Evaluator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80176" y="3703320"/>
            <a:ext cx="14630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07C26"/>
                </a:solidFill>
                <a:latin typeface="Calibri"/>
              </a:rPr>
              <a:t>→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08192" y="3703320"/>
            <a:ext cx="1335024" cy="457200"/>
          </a:xfrm>
          <a:prstGeom prst="rect">
            <a:avLst/>
          </a:prstGeom>
          <a:solidFill>
            <a:srgbClr val="EDF3FB"/>
          </a:solidFill>
          <a:ln w="12700">
            <a:solidFill>
              <a:srgbClr val="1451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08192" y="3703320"/>
            <a:ext cx="13350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D1B3E"/>
                </a:solidFill>
                <a:latin typeface="Consolas"/>
              </a:rPr>
              <a:t>Pagmo fitness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24928" y="3703320"/>
            <a:ext cx="14630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07C26"/>
                </a:solidFill>
                <a:latin typeface="Calibri"/>
              </a:rPr>
              <a:t>→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52944" y="3703320"/>
            <a:ext cx="1335024" cy="457200"/>
          </a:xfrm>
          <a:prstGeom prst="rect">
            <a:avLst/>
          </a:prstGeom>
          <a:solidFill>
            <a:srgbClr val="EDF3FB"/>
          </a:solidFill>
          <a:ln w="12700">
            <a:solidFill>
              <a:srgbClr val="0D1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3703320"/>
            <a:ext cx="13350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D1B3E"/>
                </a:solidFill>
                <a:latin typeface="Consolas"/>
              </a:rPr>
              <a:t>next generation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9184" y="4261104"/>
            <a:ext cx="8503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4A5A78"/>
                </a:solidFill>
                <a:latin typeface="Calibri"/>
              </a:rPr>
              <a:t>Iterative loop: search in normalized space → map to physical units → evaluate all disciplines → feed fitness back.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566928"/>
          </a:xfrm>
          <a:prstGeom prst="rect">
            <a:avLst/>
          </a:prstGeom>
          <a:solidFill>
            <a:srgbClr val="F0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0"/>
            <a:ext cx="7863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Calibri Light"/>
              </a:rPr>
              <a:t>C++ Code Architecture (FrameworkCpp)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0"/>
            <a:ext cx="777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0C4E8"/>
                </a:solidFill>
                <a:latin typeface="Calibr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4864608"/>
            <a:ext cx="8503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7A8BAA"/>
                </a:solidFill>
                <a:latin typeface="Calibri"/>
              </a:rPr>
              <a:t>Multidisciplinary Design Optimization of Aerospace Systems  ·  FrameworkCpp  ·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" y="713232"/>
            <a:ext cx="3840480" cy="3749039"/>
          </a:xfrm>
          <a:prstGeom prst="rect">
            <a:avLst/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9184" y="713232"/>
            <a:ext cx="64008" cy="3749039"/>
          </a:xfrm>
          <a:prstGeom prst="rect">
            <a:avLst/>
          </a:prstGeom>
          <a:solidFill>
            <a:srgbClr val="0B8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" y="786384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D1B3E"/>
                </a:solidFill>
                <a:latin typeface="Calibri"/>
              </a:rPr>
              <a:t>Directory layout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1097280"/>
            <a:ext cx="36118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4A5A78"/>
                </a:solidFill>
                <a:latin typeface="Consolas"/>
              </a:rPr>
              <a:t>FrameworkCpp/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4A5A78"/>
                </a:solidFill>
                <a:latin typeface="Consolas"/>
              </a:rPr>
              <a:t>  ├─ app/            (main.cpp · CLI modes)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4A5A78"/>
                </a:solidFill>
                <a:latin typeface="Consolas"/>
              </a:rPr>
              <a:t>  ├─ include/ + src/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4A5A78"/>
                </a:solidFill>
                <a:latin typeface="Consolas"/>
              </a:rPr>
              <a:t>  │   ├─ core/        Architecture · Elements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4A5A78"/>
                </a:solidFill>
                <a:latin typeface="Consolas"/>
              </a:rPr>
              <a:t>  │   ├─ physics/     Structural · ACS · Power · Battery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4A5A78"/>
                </a:solidFill>
                <a:latin typeface="Consolas"/>
              </a:rPr>
              <a:t>  │   ├─ evaluation/  Stage1Evaluator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4A5A78"/>
                </a:solidFill>
                <a:latin typeface="Consolas"/>
              </a:rPr>
              <a:t>  │   ├─ optimization/ SOO · MOO · Pagmo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4A5A78"/>
                </a:solidFill>
                <a:latin typeface="Consolas"/>
              </a:rPr>
              <a:t>  │   ├─ analysis/    CSV · JSON · Pareto · ACS plot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4A5A78"/>
                </a:solidFill>
                <a:latin typeface="Consolas"/>
              </a:rPr>
              <a:t>  │   ├─ mission/     MissionProfile · Evaluator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4A5A78"/>
                </a:solidFill>
                <a:latin typeface="Consolas"/>
              </a:rPr>
              <a:t>  │   └─ calibration/ Calibrator (Nelder–Mead)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4A5A78"/>
                </a:solidFill>
                <a:latin typeface="Consolas"/>
              </a:rPr>
              <a:t>  ├─ visualization/   ImGui / Vulkan 3D viewer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4A5A78"/>
                </a:solidFill>
                <a:latin typeface="Consolas"/>
              </a:rPr>
              <a:t>  └─ docs/            CODEBASE.md · Action.md 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0832" y="74980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D1B3E"/>
                </a:solidFill>
                <a:latin typeface="Calibri"/>
              </a:rPr>
              <a:t>Core classes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0832" y="1060704"/>
            <a:ext cx="4443984" cy="352044"/>
          </a:xfrm>
          <a:prstGeom prst="rect">
            <a:avLst/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060704"/>
            <a:ext cx="54864" cy="352044"/>
          </a:xfrm>
          <a:prstGeom prst="rect">
            <a:avLst/>
          </a:prstGeom>
          <a:solidFill>
            <a:srgbClr val="145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1088136"/>
            <a:ext cx="4297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D1B3E"/>
                </a:solidFill>
                <a:latin typeface="Consolas"/>
              </a:rPr>
              <a:t>HexacopterArchitecture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1261872"/>
            <a:ext cx="4297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4A5A78"/>
                </a:solidFill>
                <a:latin typeface="Calibri"/>
              </a:rPr>
              <a:t>root: parameter · element · constraint registries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70832" y="1431036"/>
            <a:ext cx="4443984" cy="352044"/>
          </a:xfrm>
          <a:prstGeom prst="rect">
            <a:avLst/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70832" y="1431036"/>
            <a:ext cx="54864" cy="352044"/>
          </a:xfrm>
          <a:prstGeom prst="rect">
            <a:avLst/>
          </a:prstGeom>
          <a:solidFill>
            <a:srgbClr val="145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8848" y="1458468"/>
            <a:ext cx="4297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D1B3E"/>
                </a:solidFill>
                <a:latin typeface="Consolas"/>
              </a:rPr>
              <a:t>DesignParameter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1632204"/>
            <a:ext cx="4297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4A5A78"/>
                </a:solidFill>
                <a:latin typeface="Calibri"/>
              </a:rPr>
              <a:t>design variable (value · bounds · norm · id)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70832" y="1801368"/>
            <a:ext cx="4443984" cy="352044"/>
          </a:xfrm>
          <a:prstGeom prst="rect">
            <a:avLst/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70832" y="1801368"/>
            <a:ext cx="54864" cy="352044"/>
          </a:xfrm>
          <a:prstGeom prst="rect">
            <a:avLst/>
          </a:prstGeom>
          <a:solidFill>
            <a:srgbClr val="145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98848" y="1828800"/>
            <a:ext cx="4297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D1B3E"/>
                </a:solidFill>
                <a:latin typeface="Consolas"/>
              </a:rPr>
              <a:t>Stage1Evaluator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8848" y="2002536"/>
            <a:ext cx="4297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4A5A78"/>
                </a:solidFill>
                <a:latin typeface="Calibri"/>
              </a:rPr>
              <a:t>runs the 6-step multidisciplinary pipeline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70832" y="2171700"/>
            <a:ext cx="4443984" cy="352044"/>
          </a:xfrm>
          <a:prstGeom prst="rect">
            <a:avLst/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70832" y="2171700"/>
            <a:ext cx="54864" cy="352044"/>
          </a:xfrm>
          <a:prstGeom prst="rect">
            <a:avLst/>
          </a:prstGeom>
          <a:solidFill>
            <a:srgbClr val="145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98848" y="2199132"/>
            <a:ext cx="4297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D1B3E"/>
                </a:solidFill>
                <a:latin typeface="Consolas"/>
              </a:rPr>
              <a:t>PagmoProblemAdapter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98848" y="2372868"/>
            <a:ext cx="4297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4A5A78"/>
                </a:solidFill>
                <a:latin typeface="Calibri"/>
              </a:rPr>
              <a:t>Pagmo2 adapter (shared by SOO / MOO)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70832" y="2542032"/>
            <a:ext cx="4443984" cy="352044"/>
          </a:xfrm>
          <a:prstGeom prst="rect">
            <a:avLst/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70832" y="2542032"/>
            <a:ext cx="54864" cy="352044"/>
          </a:xfrm>
          <a:prstGeom prst="rect">
            <a:avLst/>
          </a:prstGeom>
          <a:solidFill>
            <a:srgbClr val="145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98848" y="2569464"/>
            <a:ext cx="4297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D1B3E"/>
                </a:solidFill>
                <a:latin typeface="Consolas"/>
              </a:rPr>
              <a:t>SooRunner / MooRunner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8848" y="2743200"/>
            <a:ext cx="4297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4A5A78"/>
                </a:solidFill>
                <a:latin typeface="Calibri"/>
              </a:rPr>
              <a:t>CMA-ES / NSGA-II execution wrappers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70832" y="2912364"/>
            <a:ext cx="4443984" cy="352044"/>
          </a:xfrm>
          <a:prstGeom prst="rect">
            <a:avLst/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70832" y="2912364"/>
            <a:ext cx="54864" cy="352044"/>
          </a:xfrm>
          <a:prstGeom prst="rect">
            <a:avLst/>
          </a:prstGeom>
          <a:solidFill>
            <a:srgbClr val="145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98848" y="2939796"/>
            <a:ext cx="4297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D1B3E"/>
                </a:solidFill>
                <a:latin typeface="Consolas"/>
              </a:rPr>
              <a:t>ConstraintRegistry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98848" y="3113532"/>
            <a:ext cx="4297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4A5A78"/>
                </a:solidFill>
                <a:latin typeface="Calibri"/>
              </a:rPr>
              <a:t>hard-constraint evaluation + penalties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70832" y="3282696"/>
            <a:ext cx="4443984" cy="352044"/>
          </a:xfrm>
          <a:prstGeom prst="rect">
            <a:avLst/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70832" y="3282696"/>
            <a:ext cx="54864" cy="352044"/>
          </a:xfrm>
          <a:prstGeom prst="rect">
            <a:avLst/>
          </a:prstGeom>
          <a:solidFill>
            <a:srgbClr val="145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98848" y="3310128"/>
            <a:ext cx="4297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D1B3E"/>
                </a:solidFill>
                <a:latin typeface="Consolas"/>
              </a:rPr>
              <a:t>CsvExporter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98848" y="3483864"/>
            <a:ext cx="4297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4A5A78"/>
                </a:solidFill>
                <a:latin typeface="Calibri"/>
              </a:rPr>
              <a:t>results to CSV / JSON in physical units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70832" y="3653028"/>
            <a:ext cx="4443984" cy="352044"/>
          </a:xfrm>
          <a:prstGeom prst="rect">
            <a:avLst/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70832" y="3653028"/>
            <a:ext cx="54864" cy="352044"/>
          </a:xfrm>
          <a:prstGeom prst="rect">
            <a:avLst/>
          </a:prstGeom>
          <a:solidFill>
            <a:srgbClr val="145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98848" y="3680460"/>
            <a:ext cx="4297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D1B3E"/>
                </a:solidFill>
                <a:latin typeface="Consolas"/>
              </a:rPr>
              <a:t>AcsPlotter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98848" y="3854196"/>
            <a:ext cx="4297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4A5A78"/>
                </a:solidFill>
                <a:latin typeface="Calibri"/>
              </a:rPr>
              <a:t>SVG ACS visualization (no dependencies)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70832" y="4023360"/>
            <a:ext cx="4443984" cy="352044"/>
          </a:xfrm>
          <a:prstGeom prst="rect">
            <a:avLst/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70832" y="4023360"/>
            <a:ext cx="54864" cy="352044"/>
          </a:xfrm>
          <a:prstGeom prst="rect">
            <a:avLst/>
          </a:prstGeom>
          <a:solidFill>
            <a:srgbClr val="145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98848" y="4050792"/>
            <a:ext cx="4297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D1B3E"/>
                </a:solidFill>
                <a:latin typeface="Consolas"/>
              </a:rPr>
              <a:t>ArchitectureViewerApp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98848" y="4224528"/>
            <a:ext cx="4297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4A5A78"/>
                </a:solidFill>
                <a:latin typeface="Calibri"/>
              </a:rPr>
              <a:t>ImGui / Vulkan real-time 3D viewer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566928"/>
          </a:xfrm>
          <a:prstGeom prst="rect">
            <a:avLst/>
          </a:prstGeom>
          <a:solidFill>
            <a:srgbClr val="F0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0"/>
            <a:ext cx="7863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Calibri Light"/>
              </a:rPr>
              <a:t>How to Run &amp; Output Artifacts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0"/>
            <a:ext cx="777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0C4E8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4864608"/>
            <a:ext cx="8503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7A8BAA"/>
                </a:solidFill>
                <a:latin typeface="Calibri"/>
              </a:rPr>
              <a:t>Multidisciplinary Design Optimization of Aerospace Systems  ·  FrameworkCpp  ·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" y="713232"/>
            <a:ext cx="4754880" cy="2743200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9184" y="713232"/>
            <a:ext cx="64008" cy="2743200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" y="76809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0C4E8"/>
                </a:solidFill>
                <a:latin typeface="Calibri"/>
              </a:rPr>
              <a:t>CLI commands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1078992"/>
            <a:ext cx="45720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7A8BAA"/>
                </a:solidFill>
                <a:latin typeface="Consolas"/>
              </a:rPr>
              <a:t># baseline design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" y="1225295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Consolas"/>
              </a:rPr>
              <a:t>FrameworkCpp.exe eval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" y="1463039"/>
            <a:ext cx="45720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7A8BAA"/>
                </a:solidFill>
                <a:latin typeface="Consolas"/>
              </a:rPr>
              <a:t># single-objective optimization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" y="1609343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Consolas"/>
              </a:rPr>
              <a:t>FrameworkCpp.exe soo --soo-pop 24 --soo-gen 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" y="1847088"/>
            <a:ext cx="45720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7A8BAA"/>
                </a:solidFill>
                <a:latin typeface="Consolas"/>
              </a:rPr>
              <a:t># multi-objective optimization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" y="1993392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Consolas"/>
              </a:rPr>
              <a:t>FrameworkCpp.exe moo --moo-pop 48 --moo-gen 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" y="2231136"/>
            <a:ext cx="45720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7A8BAA"/>
                </a:solidFill>
                <a:latin typeface="Consolas"/>
              </a:rPr>
              <a:t># full SOO + MOO 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" y="2377440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Consolas"/>
              </a:rPr>
              <a:t>FrameworkCpp.exe compare --output-dir ./out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" y="2615184"/>
            <a:ext cx="45720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7A8BAA"/>
                </a:solidFill>
                <a:latin typeface="Consolas"/>
              </a:rPr>
              <a:t># SOO with live 3D visualization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" y="2761488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Consolas"/>
              </a:rPr>
              <a:t>FrameworkCpp.exe soo --visualize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" y="2999232"/>
            <a:ext cx="45720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7A8BAA"/>
                </a:solidFill>
                <a:latin typeface="Consolas"/>
              </a:rPr>
              <a:t># mission / calibration subsystems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" y="3145536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Consolas"/>
              </a:rPr>
              <a:t>FrameworkCpp.exe mission data\...json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5232" y="74980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D1B3E"/>
                </a:solidFill>
                <a:latin typeface="Calibri"/>
              </a:rPr>
              <a:t>Output files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85232" y="1060704"/>
            <a:ext cx="3529584" cy="352044"/>
          </a:xfrm>
          <a:prstGeom prst="rect">
            <a:avLst/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85232" y="1060704"/>
            <a:ext cx="54864" cy="352044"/>
          </a:xfrm>
          <a:prstGeom prst="rect">
            <a:avLst/>
          </a:prstGeom>
          <a:solidFill>
            <a:srgbClr val="F0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13248" y="1088136"/>
            <a:ext cx="3383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0D1B3E"/>
                </a:solidFill>
                <a:latin typeface="Consolas"/>
              </a:rPr>
              <a:t>comparison.csv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13248" y="1261872"/>
            <a:ext cx="33832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4A5A78"/>
                </a:solidFill>
                <a:latin typeface="Calibri"/>
              </a:rPr>
              <a:t>baseline vs optimum comparison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85232" y="1453895"/>
            <a:ext cx="3529584" cy="352044"/>
          </a:xfrm>
          <a:prstGeom prst="rect">
            <a:avLst/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85232" y="1453895"/>
            <a:ext cx="54864" cy="352044"/>
          </a:xfrm>
          <a:prstGeom prst="rect">
            <a:avLst/>
          </a:prstGeom>
          <a:solidFill>
            <a:srgbClr val="F0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13248" y="1481328"/>
            <a:ext cx="3383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0D1B3E"/>
                </a:solidFill>
                <a:latin typeface="Consolas"/>
              </a:rPr>
              <a:t>soo_parameters.csv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13248" y="1655063"/>
            <a:ext cx="33832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4A5A78"/>
                </a:solidFill>
                <a:latin typeface="Calibri"/>
              </a:rPr>
              <a:t>SOO optimal variables (physical units)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85232" y="1847088"/>
            <a:ext cx="3529584" cy="352044"/>
          </a:xfrm>
          <a:prstGeom prst="rect">
            <a:avLst/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85232" y="1847088"/>
            <a:ext cx="54864" cy="352044"/>
          </a:xfrm>
          <a:prstGeom prst="rect">
            <a:avLst/>
          </a:prstGeom>
          <a:solidFill>
            <a:srgbClr val="F0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13248" y="1874519"/>
            <a:ext cx="3383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0D1B3E"/>
                </a:solidFill>
                <a:latin typeface="Consolas"/>
              </a:rPr>
              <a:t>pareto_front.csv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13248" y="2048256"/>
            <a:ext cx="33832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4A5A78"/>
                </a:solidFill>
                <a:latin typeface="Calibri"/>
              </a:rPr>
              <a:t>Pareto objectives + safety factors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85232" y="2240280"/>
            <a:ext cx="3529584" cy="352044"/>
          </a:xfrm>
          <a:prstGeom prst="rect">
            <a:avLst/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285232" y="2240280"/>
            <a:ext cx="54864" cy="352044"/>
          </a:xfrm>
          <a:prstGeom prst="rect">
            <a:avLst/>
          </a:prstGeom>
          <a:solidFill>
            <a:srgbClr val="F0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13248" y="2267712"/>
            <a:ext cx="3383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0D1B3E"/>
                </a:solidFill>
                <a:latin typeface="Consolas"/>
              </a:rPr>
              <a:t>soo_run.json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13248" y="2441448"/>
            <a:ext cx="33832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4A5A78"/>
                </a:solidFill>
                <a:latin typeface="Calibri"/>
              </a:rPr>
              <a:t>full SOO result (with physical model)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85232" y="2633472"/>
            <a:ext cx="3529584" cy="352044"/>
          </a:xfrm>
          <a:prstGeom prst="rect">
            <a:avLst/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285232" y="2633472"/>
            <a:ext cx="54864" cy="352044"/>
          </a:xfrm>
          <a:prstGeom prst="rect">
            <a:avLst/>
          </a:prstGeom>
          <a:solidFill>
            <a:srgbClr val="F0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13248" y="2660904"/>
            <a:ext cx="3383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0D1B3E"/>
                </a:solidFill>
                <a:latin typeface="Consolas"/>
              </a:rPr>
              <a:t>moo_run.json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13248" y="2834640"/>
            <a:ext cx="33832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4A5A78"/>
                </a:solidFill>
                <a:latin typeface="Calibri"/>
              </a:rPr>
              <a:t>MOO result (Pareto population)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85232" y="3026664"/>
            <a:ext cx="3529584" cy="352044"/>
          </a:xfrm>
          <a:prstGeom prst="rect">
            <a:avLst/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285232" y="3026664"/>
            <a:ext cx="54864" cy="352044"/>
          </a:xfrm>
          <a:prstGeom prst="rect">
            <a:avLst/>
          </a:prstGeom>
          <a:solidFill>
            <a:srgbClr val="F0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13248" y="3054096"/>
            <a:ext cx="3383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0D1B3E"/>
                </a:solidFill>
                <a:latin typeface="Consolas"/>
              </a:rPr>
              <a:t>acs/*.svg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13248" y="3227832"/>
            <a:ext cx="33832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4A5A78"/>
                </a:solidFill>
                <a:latin typeface="Calibri"/>
              </a:rPr>
              <a:t>ACS margin &amp; retention charts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9184" y="3621024"/>
            <a:ext cx="8485632" cy="960120"/>
          </a:xfrm>
          <a:prstGeom prst="rect">
            <a:avLst/>
          </a:prstGeom>
          <a:solidFill>
            <a:srgbClr val="D8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9184" y="3621024"/>
            <a:ext cx="91440" cy="960120"/>
          </a:xfrm>
          <a:prstGeom prst="rect">
            <a:avLst/>
          </a:prstGeom>
          <a:solidFill>
            <a:srgbClr val="0B8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2064" y="369417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D1B3E"/>
                </a:solidFill>
                <a:latin typeface="Calibri"/>
              </a:rPr>
              <a:t>Real-time 3D visualization  (ArchitectureViewerApp — ImGui + Vulkan)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2064" y="3986784"/>
            <a:ext cx="4206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4A5A78"/>
                </a:solidFill>
                <a:latin typeface="Calibri"/>
              </a:rPr>
              <a:t>• live arm / motor / rotor / payload rendering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09744" y="3986784"/>
            <a:ext cx="4206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4A5A78"/>
                </a:solidFill>
                <a:latin typeface="Calibri"/>
              </a:rPr>
              <a:t>• updates as the optimization progresses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2064" y="4261104"/>
            <a:ext cx="4206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4A5A78"/>
                </a:solidFill>
                <a:latin typeface="Calibri"/>
              </a:rPr>
              <a:t>• loads SOO/MOO results from JSON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09744" y="4261104"/>
            <a:ext cx="4206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4A5A78"/>
                </a:solidFill>
                <a:latin typeface="Calibri"/>
              </a:rPr>
              <a:t>• left panel: per-element mass &amp; position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566928"/>
          </a:xfrm>
          <a:prstGeom prst="rect">
            <a:avLst/>
          </a:prstGeom>
          <a:solidFill>
            <a:srgbClr val="F0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0"/>
            <a:ext cx="7863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Calibri Light"/>
              </a:rPr>
              <a:t>Post-Optimization Analysis &amp;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0"/>
            <a:ext cx="777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0C4E8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4864608"/>
            <a:ext cx="8503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7A8BAA"/>
                </a:solidFill>
                <a:latin typeface="Calibri"/>
              </a:rPr>
              <a:t>Multidisciplinary Design Optimization of Aerospace Systems  ·  FrameworkCpp  ·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640080"/>
            <a:ext cx="8503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4A5A78"/>
                </a:solidFill>
                <a:latin typeface="Calibri"/>
              </a:rPr>
              <a:t>Each run tracks </a:t>
            </a:r>
            <a:r>
              <a:rPr sz="1000" b="1">
                <a:solidFill>
                  <a:srgbClr val="0D1B3E"/>
                </a:solidFill>
                <a:latin typeface="Calibri"/>
              </a:rPr>
              <a:t>raw-best and feasible-best separately</a:t>
            </a:r>
            <a:r>
              <a:rPr sz="1000" b="0">
                <a:solidFill>
                  <a:srgbClr val="4A5A78"/>
                </a:solidFill>
                <a:latin typeface="Calibri"/>
              </a:rPr>
              <a:t>, then exports artifacts for the designer to interpret the trade space.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" y="1024128"/>
            <a:ext cx="4114800" cy="1783080"/>
          </a:xfrm>
          <a:prstGeom prst="rect">
            <a:avLst/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" y="1024128"/>
            <a:ext cx="64008" cy="1783080"/>
          </a:xfrm>
          <a:prstGeom prst="rect">
            <a:avLst/>
          </a:prstGeom>
          <a:solidFill>
            <a:srgbClr val="0B8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" y="1097280"/>
            <a:ext cx="3840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D1B3E"/>
                </a:solidFill>
                <a:latin typeface="Calibri"/>
              </a:rPr>
              <a:t>SOO outcome  —  three tracked solutions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" y="1444752"/>
            <a:ext cx="128016" cy="310896"/>
          </a:xfrm>
          <a:prstGeom prst="rect">
            <a:avLst/>
          </a:prstGeom>
          <a:solidFill>
            <a:srgbClr val="7A8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417320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1B3E"/>
                </a:solidFill>
                <a:latin typeface="Consolas"/>
              </a:rPr>
              <a:t>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609344"/>
            <a:ext cx="3611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4A5A78"/>
                </a:solidFill>
                <a:latin typeface="Calibri"/>
              </a:rPr>
              <a:t>default design vector (reference point)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" y="1874519"/>
            <a:ext cx="128016" cy="310896"/>
          </a:xfrm>
          <a:prstGeom prst="rect">
            <a:avLst/>
          </a:prstGeom>
          <a:solidFill>
            <a:srgbClr val="F0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1847088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1B3E"/>
                </a:solidFill>
                <a:latin typeface="Consolas"/>
              </a:rPr>
              <a:t>best_raw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039112"/>
            <a:ext cx="3611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4A5A78"/>
                </a:solidFill>
                <a:latin typeface="Calibri"/>
              </a:rPr>
              <a:t>lowest objective ignoring feasibility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6" y="2304288"/>
            <a:ext cx="128016" cy="310896"/>
          </a:xfrm>
          <a:prstGeom prst="rect">
            <a:avLst/>
          </a:prstGeom>
          <a:solidFill>
            <a:srgbClr val="3F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227685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1B3E"/>
                </a:solidFill>
                <a:latin typeface="Consolas"/>
              </a:rPr>
              <a:t>best_feasible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2468880"/>
            <a:ext cx="3611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4A5A78"/>
                </a:solidFill>
                <a:latin typeface="Calibri"/>
              </a:rPr>
              <a:t>lowest objective with all 18 constraints met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1024128"/>
            <a:ext cx="4242816" cy="1783080"/>
          </a:xfrm>
          <a:prstGeom prst="rect">
            <a:avLst/>
          </a:prstGeom>
          <a:solidFill>
            <a:srgbClr val="ED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0" y="1024128"/>
            <a:ext cx="64008" cy="1783080"/>
          </a:xfrm>
          <a:prstGeom prst="rect">
            <a:avLst/>
          </a:prstGeom>
          <a:solidFill>
            <a:srgbClr val="F0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36592" y="1097280"/>
            <a:ext cx="3931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D1B3E"/>
                </a:solidFill>
                <a:latin typeface="Calibri"/>
              </a:rPr>
              <a:t>MOO outcome  —  Pareto trade-off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6592" y="1417320"/>
            <a:ext cx="397763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07C26"/>
                </a:solidFill>
                <a:latin typeface="Calibri"/>
              </a:rPr>
              <a:t>• </a:t>
            </a:r>
            <a:r>
              <a:rPr sz="950" b="1">
                <a:solidFill>
                  <a:srgbClr val="0D1B3E"/>
                </a:solidFill>
                <a:latin typeface="Calibri"/>
              </a:rPr>
              <a:t>Feasible Pareto subset</a:t>
            </a:r>
            <a:r>
              <a:rPr sz="950" b="0">
                <a:solidFill>
                  <a:srgbClr val="4A5A78"/>
                </a:solidFill>
                <a:latin typeface="Calibri"/>
              </a:rPr>
              <a:t> — non-dominated designs that satisfy every hard constraint.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07C26"/>
                </a:solidFill>
                <a:latin typeface="Calibri"/>
              </a:rPr>
              <a:t>• </a:t>
            </a:r>
            <a:r>
              <a:rPr sz="950" b="1">
                <a:solidFill>
                  <a:srgbClr val="0D1B3E"/>
                </a:solidFill>
                <a:latin typeface="Calibri"/>
              </a:rPr>
              <a:t>Knee-point selection</a:t>
            </a:r>
            <a:r>
              <a:rPr sz="950" b="0">
                <a:solidFill>
                  <a:srgbClr val="4A5A78"/>
                </a:solidFill>
                <a:latin typeface="Calibri"/>
              </a:rPr>
              <a:t> via ParetoAnalyzer — best mass / power / fault-tolerance compromise.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07C26"/>
                </a:solidFill>
                <a:latin typeface="Calibri"/>
              </a:rPr>
              <a:t>• </a:t>
            </a:r>
            <a:r>
              <a:rPr sz="950" b="0">
                <a:solidFill>
                  <a:srgbClr val="4A5A78"/>
                </a:solidFill>
                <a:latin typeface="Calibri"/>
              </a:rPr>
              <a:t>Designer picks the operating point along the front directly.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184" y="2999232"/>
            <a:ext cx="8485632" cy="1481328"/>
          </a:xfrm>
          <a:prstGeom prst="rect">
            <a:avLst/>
          </a:prstGeom>
          <a:solidFill>
            <a:srgbClr val="D8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9184" y="2999232"/>
            <a:ext cx="91440" cy="1481328"/>
          </a:xfrm>
          <a:prstGeom prst="rect">
            <a:avLst/>
          </a:prstGeom>
          <a:solidFill>
            <a:srgbClr val="0B8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307238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D1B3E"/>
                </a:solidFill>
                <a:latin typeface="Calibri"/>
              </a:rPr>
              <a:t>Post-analysis interpretation flow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2064" y="3401568"/>
            <a:ext cx="1591056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0B8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2064" y="3401568"/>
            <a:ext cx="1591056" cy="54864"/>
          </a:xfrm>
          <a:prstGeom prst="rect">
            <a:avLst/>
          </a:prstGeom>
          <a:solidFill>
            <a:srgbClr val="0B8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6" y="3511296"/>
            <a:ext cx="1444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0D1B3E"/>
                </a:solidFill>
                <a:latin typeface="Consolas"/>
              </a:rPr>
              <a:t>ACS SVGs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" y="3822191"/>
            <a:ext cx="1444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4A5A78"/>
                </a:solidFill>
                <a:latin typeface="Calibri"/>
              </a:rPr>
              <a:t>directional margins,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4A5A78"/>
                </a:solidFill>
                <a:latin typeface="Calibri"/>
              </a:rPr>
              <a:t>fault retention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84831" y="3401568"/>
            <a:ext cx="14630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07C26"/>
                </a:solidFill>
                <a:latin typeface="Calibri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12848" y="3401568"/>
            <a:ext cx="1591056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1451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12848" y="3401568"/>
            <a:ext cx="1591056" cy="54864"/>
          </a:xfrm>
          <a:prstGeom prst="rect">
            <a:avLst/>
          </a:prstGeom>
          <a:solidFill>
            <a:srgbClr val="145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0" y="3511296"/>
            <a:ext cx="1444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0D1B3E"/>
                </a:solidFill>
                <a:latin typeface="Consolas"/>
              </a:rPr>
              <a:t>comparison.csv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0" y="3822191"/>
            <a:ext cx="1444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4A5A78"/>
                </a:solidFill>
                <a:latin typeface="Calibri"/>
              </a:rPr>
              <a:t>baseline vs optimum,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4A5A78"/>
                </a:solidFill>
                <a:latin typeface="Calibri"/>
              </a:rPr>
              <a:t>side by side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85616" y="3401568"/>
            <a:ext cx="14630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07C26"/>
                </a:solidFill>
                <a:latin typeface="Calibri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13631" y="3401568"/>
            <a:ext cx="1591056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F07C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13631" y="3401568"/>
            <a:ext cx="1591056" cy="54864"/>
          </a:xfrm>
          <a:prstGeom prst="rect">
            <a:avLst/>
          </a:prstGeom>
          <a:solidFill>
            <a:srgbClr val="F0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86783" y="3511296"/>
            <a:ext cx="1444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0D1B3E"/>
                </a:solidFill>
                <a:latin typeface="Consolas"/>
              </a:rPr>
              <a:t>*_parameters.csv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86783" y="3822191"/>
            <a:ext cx="1444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4A5A78"/>
                </a:solidFill>
                <a:latin typeface="Calibri"/>
              </a:rPr>
              <a:t>winning design vector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4A5A78"/>
                </a:solidFill>
                <a:latin typeface="Calibri"/>
              </a:rPr>
              <a:t>in physical units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0" y="3401568"/>
            <a:ext cx="14630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07C26"/>
                </a:solidFill>
                <a:latin typeface="Calibri"/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14415" y="3401568"/>
            <a:ext cx="1591056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3FA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614415" y="3401568"/>
            <a:ext cx="1591056" cy="54864"/>
          </a:xfrm>
          <a:prstGeom prst="rect">
            <a:avLst/>
          </a:prstGeom>
          <a:solidFill>
            <a:srgbClr val="3F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87567" y="3511296"/>
            <a:ext cx="1444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0D1B3E"/>
                </a:solidFill>
                <a:latin typeface="Consolas"/>
              </a:rPr>
              <a:t>soo/moo_run.json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87567" y="3822191"/>
            <a:ext cx="1444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4A5A78"/>
                </a:solidFill>
                <a:latin typeface="Calibri"/>
              </a:rPr>
              <a:t>full result +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4A5A78"/>
                </a:solidFill>
                <a:latin typeface="Calibri"/>
              </a:rPr>
              <a:t>physical model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87183" y="3401568"/>
            <a:ext cx="14630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07C26"/>
                </a:solidFill>
                <a:latin typeface="Calibri"/>
              </a:rPr>
              <a:t>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199" y="3401568"/>
            <a:ext cx="1591056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1A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15199" y="3401568"/>
            <a:ext cx="1591056" cy="54864"/>
          </a:xfrm>
          <a:prstGeom prst="rect">
            <a:avLst/>
          </a:prstGeom>
          <a:solidFill>
            <a:srgbClr val="1A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88351" y="3511296"/>
            <a:ext cx="1444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0D1B3E"/>
                </a:solidFill>
                <a:latin typeface="Consolas"/>
              </a:rPr>
              <a:t>3D viewer replay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88351" y="3822191"/>
            <a:ext cx="1444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4A5A78"/>
                </a:solidFill>
                <a:latin typeface="Calibri"/>
              </a:rPr>
              <a:t>load JSON, inspect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4A5A78"/>
                </a:solidFill>
                <a:latin typeface="Calibri"/>
              </a:rPr>
              <a:t>placement &amp; masses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9184" y="4553712"/>
            <a:ext cx="8503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4A5A78"/>
                </a:solidFill>
                <a:latin typeface="Calibri"/>
              </a:rPr>
              <a:t>Generate everything at once:  </a:t>
            </a:r>
            <a:r>
              <a:rPr sz="900" b="1">
                <a:solidFill>
                  <a:srgbClr val="0D1B3E"/>
                </a:solidFill>
                <a:latin typeface="Consolas"/>
              </a:rPr>
              <a:t>FrameworkCpp.exe compare --output-dir ./out</a:t>
            </a:r>
            <a:r>
              <a:rPr sz="900" b="0">
                <a:solidFill>
                  <a:srgbClr val="4A5A78"/>
                </a:solidFill>
                <a:latin typeface="Calibri"/>
              </a:rPr>
              <a:t>   (runs SOO + MOO and writes all artifacts).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0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Conclusion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097280"/>
            <a:ext cx="2194560" cy="36576"/>
          </a:xfrm>
          <a:prstGeom prst="rect">
            <a:avLst/>
          </a:prstGeom>
          <a:solidFill>
            <a:srgbClr val="0B8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344168"/>
            <a:ext cx="237744" cy="237744"/>
          </a:xfrm>
          <a:prstGeom prst="ellipse">
            <a:avLst/>
          </a:prstGeom>
          <a:solidFill>
            <a:srgbClr val="0B8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441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D1B3E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25880"/>
            <a:ext cx="795527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D8E4F0"/>
                </a:solidFill>
                <a:latin typeface="Calibri"/>
              </a:rPr>
              <a:t>C++ high-performance MDO framework — 5 coupled disciplines (structure · ACS · propulsion · battery · packaging)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755648"/>
            <a:ext cx="237744" cy="237744"/>
          </a:xfrm>
          <a:prstGeom prst="ellipse">
            <a:avLst/>
          </a:prstGeom>
          <a:solidFill>
            <a:srgbClr val="0B8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5564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D1B3E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737360"/>
            <a:ext cx="795527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D8E4F0"/>
                </a:solidFill>
                <a:latin typeface="Calibri"/>
              </a:rPr>
              <a:t>16 design variables, 18 hard constraints → Pagmo2 SOO (CMA-ES) + MOO (NSGA-II)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167128"/>
            <a:ext cx="237744" cy="237744"/>
          </a:xfrm>
          <a:prstGeom prst="ellipse">
            <a:avLst/>
          </a:prstGeom>
          <a:solidFill>
            <a:srgbClr val="0B8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6712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D1B3E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148840"/>
            <a:ext cx="795527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D8E4F0"/>
                </a:solidFill>
                <a:latin typeface="Calibri"/>
              </a:rPr>
              <a:t>Phase 2: battery energy / C-rate constraints and powertrain model integrated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2578608"/>
            <a:ext cx="237744" cy="237744"/>
          </a:xfrm>
          <a:prstGeom prst="ellipse">
            <a:avLst/>
          </a:prstGeom>
          <a:solidFill>
            <a:srgbClr val="0B8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57860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D1B3E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560320"/>
            <a:ext cx="795527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D8E4F0"/>
                </a:solidFill>
                <a:latin typeface="Calibri"/>
              </a:rPr>
              <a:t>3-DOF placement of passenger · cargo · battery with AABB cabin-packaging constraints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2990088"/>
            <a:ext cx="237744" cy="237744"/>
          </a:xfrm>
          <a:prstGeom prst="ellipse">
            <a:avLst/>
          </a:prstGeom>
          <a:solidFill>
            <a:srgbClr val="0B8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9900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D1B3E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971800"/>
            <a:ext cx="795527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D8E4F0"/>
                </a:solidFill>
                <a:latin typeface="Calibri"/>
              </a:rPr>
              <a:t>ImGui / Vulkan real-time 3D viewer + automatic ACS SVG plots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3401568"/>
            <a:ext cx="237744" cy="237744"/>
          </a:xfrm>
          <a:prstGeom prst="ellipse">
            <a:avLst/>
          </a:prstGeom>
          <a:solidFill>
            <a:srgbClr val="0B8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4015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D1B3E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383280"/>
            <a:ext cx="795527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D8E4F0"/>
                </a:solidFill>
                <a:latin typeface="Calibri"/>
              </a:rPr>
              <a:t>Mission and calibration subsystems (multi-segment energy, flight-log parameter ID)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931920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07C26"/>
                </a:solidFill>
                <a:latin typeface="Calibri"/>
              </a:rPr>
              <a:t>Future 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224528"/>
            <a:ext cx="4206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D8E4F0"/>
                </a:solidFill>
                <a:latin typeface="Calibri"/>
              </a:rPr>
              <a:t>→ higher-fidelity CFD / FEM coupling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4224528"/>
            <a:ext cx="4206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D8E4F0"/>
                </a:solidFill>
                <a:latin typeface="Calibri"/>
              </a:rPr>
              <a:t>→ range and noise objectives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498848"/>
            <a:ext cx="4206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D8E4F0"/>
                </a:solidFill>
                <a:latin typeface="Calibri"/>
              </a:rPr>
              <a:t>→ flight-data-driven model calibration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4498848"/>
            <a:ext cx="4206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D8E4F0"/>
                </a:solidFill>
                <a:latin typeface="Calibri"/>
              </a:rPr>
              <a:t>→ multi-mission (cruise + hover) optimization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B8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